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8229600" cx="14630400"/>
  <p:notesSz cx="8229600" cy="14630400"/>
  <p:embeddedFontLst>
    <p:embeddedFont>
      <p:font typeface="IBM Plex Sans"/>
      <p:regular r:id="rId16"/>
      <p:bold r:id="rId17"/>
      <p:italic r:id="rId18"/>
      <p:boldItalic r:id="rId19"/>
    </p:embeddedFon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7.xml"/><Relationship Id="rId22" Type="http://schemas.openxmlformats.org/officeDocument/2006/relationships/font" Target="fonts/Roboto-italic.fntdata"/><Relationship Id="rId10" Type="http://schemas.openxmlformats.org/officeDocument/2006/relationships/slide" Target="slides/slide6.xml"/><Relationship Id="rId21" Type="http://schemas.openxmlformats.org/officeDocument/2006/relationships/font" Target="fonts/Roboto-bold.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IBMPlexSans-bold.fntdata"/><Relationship Id="rId16" Type="http://schemas.openxmlformats.org/officeDocument/2006/relationships/font" Target="fonts/IBMPlexSans-regular.fntdata"/><Relationship Id="rId5" Type="http://schemas.openxmlformats.org/officeDocument/2006/relationships/slide" Target="slides/slide1.xml"/><Relationship Id="rId19" Type="http://schemas.openxmlformats.org/officeDocument/2006/relationships/font" Target="fonts/IBMPlexSans-boldItalic.fntdata"/><Relationship Id="rId6" Type="http://schemas.openxmlformats.org/officeDocument/2006/relationships/slide" Target="slides/slide2.xml"/><Relationship Id="rId18" Type="http://schemas.openxmlformats.org/officeDocument/2006/relationships/font" Target="fonts/IBMPlexSans-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50" name="Shape 50"/>
        <p:cNvGrpSpPr/>
        <p:nvPr/>
      </p:nvGrpSpPr>
      <p:grpSpPr>
        <a:xfrm>
          <a:off x="0" y="0"/>
          <a:ext cx="0" cy="0"/>
          <a:chOff x="0" y="0"/>
          <a:chExt cx="0" cy="0"/>
        </a:xfrm>
      </p:grpSpPr>
      <p:sp>
        <p:nvSpPr>
          <p:cNvPr id="51" name="Google Shape;51;p12"/>
          <p:cNvSpPr/>
          <p:nvPr/>
        </p:nvSpPr>
        <p:spPr>
          <a:xfrm>
            <a:off x="0" y="0"/>
            <a:ext cx="14630400" cy="8229600"/>
          </a:xfrm>
          <a:prstGeom prst="rect">
            <a:avLst/>
          </a:prstGeom>
          <a:solidFill>
            <a:srgbClr val="2224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2"/>
          <p:cNvSpPr/>
          <p:nvPr/>
        </p:nvSpPr>
        <p:spPr>
          <a:xfrm>
            <a:off x="0" y="0"/>
            <a:ext cx="14630400" cy="8229600"/>
          </a:xfrm>
          <a:prstGeom prst="rect">
            <a:avLst/>
          </a:prstGeom>
          <a:solidFill>
            <a:srgbClr val="292C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1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4.png"/><Relationship Id="rId4" Type="http://schemas.openxmlformats.org/officeDocument/2006/relationships/image" Target="../media/image23.png"/><Relationship Id="rId9"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9.pn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8.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5.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31.png"/><Relationship Id="rId13" Type="http://schemas.openxmlformats.org/officeDocument/2006/relationships/image" Target="../media/image5.png"/><Relationship Id="rId12" Type="http://schemas.openxmlformats.org/officeDocument/2006/relationships/image" Target="../media/image47.png"/><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48.png"/><Relationship Id="rId4" Type="http://schemas.openxmlformats.org/officeDocument/2006/relationships/image" Target="../media/image38.png"/><Relationship Id="rId9" Type="http://schemas.openxmlformats.org/officeDocument/2006/relationships/image" Target="../media/image58.png"/><Relationship Id="rId5" Type="http://schemas.openxmlformats.org/officeDocument/2006/relationships/image" Target="../media/image29.png"/><Relationship Id="rId6" Type="http://schemas.openxmlformats.org/officeDocument/2006/relationships/image" Target="../media/image25.png"/><Relationship Id="rId7" Type="http://schemas.openxmlformats.org/officeDocument/2006/relationships/image" Target="../media/image35.png"/><Relationship Id="rId8"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40.png"/><Relationship Id="rId4" Type="http://schemas.openxmlformats.org/officeDocument/2006/relationships/image" Target="../media/image37.png"/><Relationship Id="rId5" Type="http://schemas.openxmlformats.org/officeDocument/2006/relationships/image" Target="../media/image39.png"/><Relationship Id="rId6" Type="http://schemas.openxmlformats.org/officeDocument/2006/relationships/image" Target="../media/image36.png"/><Relationship Id="rId7" Type="http://schemas.openxmlformats.org/officeDocument/2006/relationships/image" Target="../media/image5.png"/></Relationships>
</file>

<file path=ppt/slides/_rels/slide10.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51.png"/><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57.png"/><Relationship Id="rId4" Type="http://schemas.openxmlformats.org/officeDocument/2006/relationships/image" Target="../media/image46.png"/><Relationship Id="rId9" Type="http://schemas.openxmlformats.org/officeDocument/2006/relationships/image" Target="../media/image53.png"/><Relationship Id="rId5" Type="http://schemas.openxmlformats.org/officeDocument/2006/relationships/image" Target="../media/image49.png"/><Relationship Id="rId6" Type="http://schemas.openxmlformats.org/officeDocument/2006/relationships/image" Target="../media/image55.png"/><Relationship Id="rId7" Type="http://schemas.openxmlformats.org/officeDocument/2006/relationships/image" Target="../media/image52.png"/><Relationship Id="rId8"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6.png"/><Relationship Id="rId4" Type="http://schemas.openxmlformats.org/officeDocument/2006/relationships/image" Target="../media/image59.png"/><Relationship Id="rId5" Type="http://schemas.openxmlformats.org/officeDocument/2006/relationships/image" Target="../media/image50.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descr="preencoded.png" id="60" name="Google Shape;60;p1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61" name="Google Shape;61;p14"/>
          <p:cNvSpPr/>
          <p:nvPr/>
        </p:nvSpPr>
        <p:spPr>
          <a:xfrm>
            <a:off x="642950" y="4440825"/>
            <a:ext cx="8310600" cy="1917300"/>
          </a:xfrm>
          <a:prstGeom prst="rect">
            <a:avLst/>
          </a:prstGeom>
          <a:noFill/>
          <a:ln>
            <a:noFill/>
          </a:ln>
        </p:spPr>
        <p:txBody>
          <a:bodyPr anchorCtr="0" anchor="t" bIns="0" lIns="0" spcFirstLastPara="1" rIns="0" wrap="square" tIns="0">
            <a:noAutofit/>
          </a:bodyPr>
          <a:lstStyle/>
          <a:p>
            <a:pPr indent="0" lvl="0" marL="0" marR="0" rtl="0" algn="l">
              <a:lnSpc>
                <a:spcPct val="140909"/>
              </a:lnSpc>
              <a:spcBef>
                <a:spcPts val="0"/>
              </a:spcBef>
              <a:spcAft>
                <a:spcPts val="0"/>
              </a:spcAft>
              <a:buClr>
                <a:srgbClr val="D4D4D1"/>
              </a:buClr>
              <a:buSzPts val="2200"/>
              <a:buFont typeface="Roboto"/>
              <a:buNone/>
            </a:pPr>
            <a:r>
              <a:rPr b="1" i="0" lang="en-US" sz="2200" u="none" cap="none" strike="noStrike">
                <a:solidFill>
                  <a:srgbClr val="D4D4D1"/>
                </a:solidFill>
                <a:latin typeface="Roboto"/>
                <a:ea typeface="Roboto"/>
                <a:cs typeface="Roboto"/>
                <a:sym typeface="Roboto"/>
              </a:rPr>
              <a:t>da </a:t>
            </a:r>
            <a:r>
              <a:rPr b="1" lang="en-US" sz="2200">
                <a:solidFill>
                  <a:srgbClr val="D4D4D1"/>
                </a:solidFill>
                <a:latin typeface="Roboto"/>
                <a:ea typeface="Roboto"/>
                <a:cs typeface="Roboto"/>
                <a:sym typeface="Roboto"/>
              </a:rPr>
              <a:t>Lorenzo Barberis, Maxim Cebotari, Valentino Ferrero e Andrea Francavilla</a:t>
            </a:r>
            <a:endParaRPr b="1" sz="2200">
              <a:solidFill>
                <a:srgbClr val="D4D4D1"/>
              </a:solidFill>
              <a:latin typeface="Roboto"/>
              <a:ea typeface="Roboto"/>
              <a:cs typeface="Roboto"/>
              <a:sym typeface="Roboto"/>
            </a:endParaRPr>
          </a:p>
        </p:txBody>
      </p:sp>
      <p:sp>
        <p:nvSpPr>
          <p:cNvPr id="62" name="Google Shape;62;p14"/>
          <p:cNvSpPr/>
          <p:nvPr/>
        </p:nvSpPr>
        <p:spPr>
          <a:xfrm>
            <a:off x="793790" y="3391853"/>
            <a:ext cx="617100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1" i="0" lang="en-US" sz="4450" u="none" cap="none" strike="noStrike">
                <a:solidFill>
                  <a:srgbClr val="F3F3F2"/>
                </a:solidFill>
                <a:latin typeface="IBM Plex Sans"/>
                <a:ea typeface="IBM Plex Sans"/>
                <a:cs typeface="IBM Plex Sans"/>
                <a:sym typeface="IBM Plex Sans"/>
              </a:rPr>
              <a:t>Architettura Intel 8086</a:t>
            </a:r>
            <a:endParaRPr b="0" i="0" sz="44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descr="preencoded.png" id="68" name="Google Shape;68;p15"/>
          <p:cNvPicPr preferRelativeResize="0"/>
          <p:nvPr/>
        </p:nvPicPr>
        <p:blipFill rotWithShape="1">
          <a:blip r:embed="rId3">
            <a:alphaModFix/>
          </a:blip>
          <a:srcRect b="0" l="0" r="0" t="0"/>
          <a:stretch/>
        </p:blipFill>
        <p:spPr>
          <a:xfrm>
            <a:off x="0" y="0"/>
            <a:ext cx="14630400" cy="2835235"/>
          </a:xfrm>
          <a:prstGeom prst="rect">
            <a:avLst/>
          </a:prstGeom>
          <a:noFill/>
          <a:ln>
            <a:noFill/>
          </a:ln>
        </p:spPr>
      </p:pic>
      <p:pic>
        <p:nvPicPr>
          <p:cNvPr descr="preencoded.png" id="69" name="Google Shape;69;p15"/>
          <p:cNvPicPr preferRelativeResize="0"/>
          <p:nvPr/>
        </p:nvPicPr>
        <p:blipFill rotWithShape="1">
          <a:blip r:embed="rId4">
            <a:alphaModFix/>
          </a:blip>
          <a:srcRect b="0" l="0" r="0" t="0"/>
          <a:stretch/>
        </p:blipFill>
        <p:spPr>
          <a:xfrm>
            <a:off x="5151477" y="283488"/>
            <a:ext cx="4327327" cy="2268260"/>
          </a:xfrm>
          <a:prstGeom prst="rect">
            <a:avLst/>
          </a:prstGeom>
          <a:noFill/>
          <a:ln>
            <a:noFill/>
          </a:ln>
        </p:spPr>
      </p:pic>
      <p:sp>
        <p:nvSpPr>
          <p:cNvPr id="70" name="Google Shape;70;p15"/>
          <p:cNvSpPr/>
          <p:nvPr/>
        </p:nvSpPr>
        <p:spPr>
          <a:xfrm>
            <a:off x="793790" y="3486983"/>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0" i="0" lang="en-US" sz="4450" u="none" cap="none" strike="noStrike">
                <a:solidFill>
                  <a:srgbClr val="F3F3F2"/>
                </a:solidFill>
                <a:latin typeface="IBM Plex Sans"/>
                <a:ea typeface="IBM Plex Sans"/>
                <a:cs typeface="IBM Plex Sans"/>
                <a:sym typeface="IBM Plex Sans"/>
              </a:rPr>
              <a:t>Introduzione all'8086</a:t>
            </a:r>
            <a:endParaRPr b="0" i="0" sz="4450" u="none" cap="none" strike="noStrike"/>
          </a:p>
        </p:txBody>
      </p:sp>
      <p:sp>
        <p:nvSpPr>
          <p:cNvPr id="71" name="Google Shape;71;p15"/>
          <p:cNvSpPr/>
          <p:nvPr/>
        </p:nvSpPr>
        <p:spPr>
          <a:xfrm>
            <a:off x="793790" y="4535924"/>
            <a:ext cx="510302" cy="510302"/>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15"/>
          <p:cNvPicPr preferRelativeResize="0"/>
          <p:nvPr/>
        </p:nvPicPr>
        <p:blipFill rotWithShape="1">
          <a:blip r:embed="rId5">
            <a:alphaModFix/>
          </a:blip>
          <a:srcRect b="0" l="0" r="0" t="0"/>
          <a:stretch/>
        </p:blipFill>
        <p:spPr>
          <a:xfrm>
            <a:off x="878860" y="4578429"/>
            <a:ext cx="340162" cy="425291"/>
          </a:xfrm>
          <a:prstGeom prst="rect">
            <a:avLst/>
          </a:prstGeom>
          <a:noFill/>
          <a:ln>
            <a:noFill/>
          </a:ln>
        </p:spPr>
      </p:pic>
      <p:sp>
        <p:nvSpPr>
          <p:cNvPr id="73" name="Google Shape;73;p15"/>
          <p:cNvSpPr/>
          <p:nvPr/>
        </p:nvSpPr>
        <p:spPr>
          <a:xfrm>
            <a:off x="1530906" y="4613791"/>
            <a:ext cx="409872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2200"/>
              <a:buFont typeface="IBM Plex Sans"/>
              <a:buNone/>
            </a:pPr>
            <a:r>
              <a:rPr b="0" i="0" lang="en-US" sz="2200" u="none" cap="none" strike="noStrike">
                <a:solidFill>
                  <a:srgbClr val="D4D4D1"/>
                </a:solidFill>
                <a:latin typeface="IBM Plex Sans"/>
                <a:ea typeface="IBM Plex Sans"/>
                <a:cs typeface="IBM Plex Sans"/>
                <a:sym typeface="IBM Plex Sans"/>
              </a:rPr>
              <a:t>Microprocessore a 16 bit (CISC)</a:t>
            </a:r>
            <a:endParaRPr b="0" i="0" sz="2200" u="none" cap="none" strike="noStrike"/>
          </a:p>
        </p:txBody>
      </p:sp>
      <p:sp>
        <p:nvSpPr>
          <p:cNvPr id="74" name="Google Shape;74;p15"/>
          <p:cNvSpPr/>
          <p:nvPr/>
        </p:nvSpPr>
        <p:spPr>
          <a:xfrm>
            <a:off x="1530906" y="5104209"/>
            <a:ext cx="564261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L'Intel 8086 è un processore 16 bit con architettura CISC, tappa fondamentale per i processori x86.</a:t>
            </a:r>
            <a:endParaRPr b="0" i="0" sz="1750" u="none" cap="none" strike="noStrike"/>
          </a:p>
        </p:txBody>
      </p:sp>
      <p:sp>
        <p:nvSpPr>
          <p:cNvPr id="75" name="Google Shape;75;p15"/>
          <p:cNvSpPr/>
          <p:nvPr/>
        </p:nvSpPr>
        <p:spPr>
          <a:xfrm>
            <a:off x="7457003" y="4535924"/>
            <a:ext cx="510302" cy="510302"/>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6" name="Google Shape;76;p15"/>
          <p:cNvPicPr preferRelativeResize="0"/>
          <p:nvPr/>
        </p:nvPicPr>
        <p:blipFill rotWithShape="1">
          <a:blip r:embed="rId6">
            <a:alphaModFix/>
          </a:blip>
          <a:srcRect b="0" l="0" r="0" t="0"/>
          <a:stretch/>
        </p:blipFill>
        <p:spPr>
          <a:xfrm>
            <a:off x="7542074" y="4578429"/>
            <a:ext cx="340162" cy="425291"/>
          </a:xfrm>
          <a:prstGeom prst="rect">
            <a:avLst/>
          </a:prstGeom>
          <a:noFill/>
          <a:ln>
            <a:noFill/>
          </a:ln>
        </p:spPr>
      </p:pic>
      <p:sp>
        <p:nvSpPr>
          <p:cNvPr id="77" name="Google Shape;77;p15"/>
          <p:cNvSpPr/>
          <p:nvPr/>
        </p:nvSpPr>
        <p:spPr>
          <a:xfrm>
            <a:off x="8194119" y="461379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2200"/>
              <a:buFont typeface="IBM Plex Sans"/>
              <a:buNone/>
            </a:pPr>
            <a:r>
              <a:rPr b="0" i="0" lang="en-US" sz="2200" u="none" cap="none" strike="noStrike">
                <a:solidFill>
                  <a:srgbClr val="D4D4D1"/>
                </a:solidFill>
                <a:latin typeface="IBM Plex Sans"/>
                <a:ea typeface="IBM Plex Sans"/>
                <a:cs typeface="IBM Plex Sans"/>
                <a:sym typeface="IBM Plex Sans"/>
              </a:rPr>
              <a:t>Anno di rilascio: 1978</a:t>
            </a:r>
            <a:endParaRPr b="0" i="0" sz="2200" u="none" cap="none" strike="noStrike"/>
          </a:p>
        </p:txBody>
      </p:sp>
      <p:sp>
        <p:nvSpPr>
          <p:cNvPr id="78" name="Google Shape;78;p15"/>
          <p:cNvSpPr/>
          <p:nvPr/>
        </p:nvSpPr>
        <p:spPr>
          <a:xfrm>
            <a:off x="8194119" y="5104209"/>
            <a:ext cx="564261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Introdotto nel 1978, ha dato inizio alla famiglia x86 tuttora attiva.</a:t>
            </a:r>
            <a:endParaRPr b="0" i="0" sz="1750" u="none" cap="none" strike="noStrike"/>
          </a:p>
        </p:txBody>
      </p:sp>
      <p:sp>
        <p:nvSpPr>
          <p:cNvPr id="79" name="Google Shape;79;p15"/>
          <p:cNvSpPr/>
          <p:nvPr/>
        </p:nvSpPr>
        <p:spPr>
          <a:xfrm>
            <a:off x="793790" y="6283643"/>
            <a:ext cx="510302" cy="510302"/>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15"/>
          <p:cNvPicPr preferRelativeResize="0"/>
          <p:nvPr/>
        </p:nvPicPr>
        <p:blipFill rotWithShape="1">
          <a:blip r:embed="rId7">
            <a:alphaModFix/>
          </a:blip>
          <a:srcRect b="0" l="0" r="0" t="0"/>
          <a:stretch/>
        </p:blipFill>
        <p:spPr>
          <a:xfrm>
            <a:off x="878860" y="6326148"/>
            <a:ext cx="340162" cy="425291"/>
          </a:xfrm>
          <a:prstGeom prst="rect">
            <a:avLst/>
          </a:prstGeom>
          <a:noFill/>
          <a:ln>
            <a:noFill/>
          </a:ln>
        </p:spPr>
      </p:pic>
      <p:sp>
        <p:nvSpPr>
          <p:cNvPr id="81" name="Google Shape;81;p15"/>
          <p:cNvSpPr/>
          <p:nvPr/>
        </p:nvSpPr>
        <p:spPr>
          <a:xfrm>
            <a:off x="1530906" y="6361509"/>
            <a:ext cx="421636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2200"/>
              <a:buFont typeface="IBM Plex Sans"/>
              <a:buNone/>
            </a:pPr>
            <a:r>
              <a:rPr b="0" i="0" lang="en-US" sz="2200" u="none" cap="none" strike="noStrike">
                <a:solidFill>
                  <a:srgbClr val="D4D4D1"/>
                </a:solidFill>
                <a:latin typeface="IBM Plex Sans"/>
                <a:ea typeface="IBM Plex Sans"/>
                <a:cs typeface="IBM Plex Sans"/>
                <a:sym typeface="IBM Plex Sans"/>
              </a:rPr>
              <a:t>Architettura segmentata a 20 bit</a:t>
            </a:r>
            <a:endParaRPr b="0" i="0" sz="2200" u="none" cap="none" strike="noStrike"/>
          </a:p>
        </p:txBody>
      </p:sp>
      <p:sp>
        <p:nvSpPr>
          <p:cNvPr id="82" name="Google Shape;82;p15"/>
          <p:cNvSpPr/>
          <p:nvPr/>
        </p:nvSpPr>
        <p:spPr>
          <a:xfrm>
            <a:off x="1530906" y="6851928"/>
            <a:ext cx="564261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Usa memoria segmentata con bus indirizzi a 20 bit per gestire lo spazio memoria.</a:t>
            </a:r>
            <a:endParaRPr b="0" i="0" sz="1750" u="none" cap="none" strike="noStrike"/>
          </a:p>
        </p:txBody>
      </p:sp>
      <p:sp>
        <p:nvSpPr>
          <p:cNvPr id="83" name="Google Shape;83;p15"/>
          <p:cNvSpPr/>
          <p:nvPr/>
        </p:nvSpPr>
        <p:spPr>
          <a:xfrm>
            <a:off x="7457003" y="6283643"/>
            <a:ext cx="510302" cy="510302"/>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4" name="Google Shape;84;p15"/>
          <p:cNvPicPr preferRelativeResize="0"/>
          <p:nvPr/>
        </p:nvPicPr>
        <p:blipFill rotWithShape="1">
          <a:blip r:embed="rId8">
            <a:alphaModFix/>
          </a:blip>
          <a:srcRect b="0" l="0" r="0" t="0"/>
          <a:stretch/>
        </p:blipFill>
        <p:spPr>
          <a:xfrm>
            <a:off x="7542074" y="6326148"/>
            <a:ext cx="340162" cy="425291"/>
          </a:xfrm>
          <a:prstGeom prst="rect">
            <a:avLst/>
          </a:prstGeom>
          <a:noFill/>
          <a:ln>
            <a:noFill/>
          </a:ln>
        </p:spPr>
      </p:pic>
      <p:sp>
        <p:nvSpPr>
          <p:cNvPr id="85" name="Google Shape;85;p15"/>
          <p:cNvSpPr/>
          <p:nvPr/>
        </p:nvSpPr>
        <p:spPr>
          <a:xfrm>
            <a:off x="8194119" y="6361509"/>
            <a:ext cx="468165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4D4D1"/>
              </a:buClr>
              <a:buSzPts val="2200"/>
              <a:buFont typeface="IBM Plex Sans"/>
              <a:buNone/>
            </a:pPr>
            <a:r>
              <a:rPr b="0" i="0" lang="en-US" sz="2200" u="none" cap="none" strike="noStrike">
                <a:solidFill>
                  <a:srgbClr val="D4D4D1"/>
                </a:solidFill>
                <a:latin typeface="IBM Plex Sans"/>
                <a:ea typeface="IBM Plex Sans"/>
                <a:cs typeface="IBM Plex Sans"/>
                <a:sym typeface="IBM Plex Sans"/>
              </a:rPr>
              <a:t>Fino a 1 MB di memoria indirizzabile</a:t>
            </a:r>
            <a:endParaRPr b="0" i="0" sz="2200" u="none" cap="none" strike="noStrike"/>
          </a:p>
        </p:txBody>
      </p:sp>
      <p:sp>
        <p:nvSpPr>
          <p:cNvPr id="86" name="Google Shape;86;p15"/>
          <p:cNvSpPr/>
          <p:nvPr/>
        </p:nvSpPr>
        <p:spPr>
          <a:xfrm>
            <a:off x="8194119" y="6851928"/>
            <a:ext cx="564261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Il bus a 20 bit consente di indirizzare fino a 1 megabyte di memoria fisica.</a:t>
            </a:r>
            <a:endParaRPr b="0" i="0" sz="1750" u="none" cap="none" strike="noStrike"/>
          </a:p>
        </p:txBody>
      </p:sp>
      <p:pic>
        <p:nvPicPr>
          <p:cNvPr id="87" name="Google Shape;87;p15"/>
          <p:cNvPicPr preferRelativeResize="0"/>
          <p:nvPr/>
        </p:nvPicPr>
        <p:blipFill>
          <a:blip r:embed="rId9">
            <a:alphaModFix/>
          </a:blip>
          <a:stretch>
            <a:fillRect/>
          </a:stretch>
        </p:blipFill>
        <p:spPr>
          <a:xfrm>
            <a:off x="12680571" y="7713800"/>
            <a:ext cx="1949825" cy="409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p:nvPr/>
        </p:nvSpPr>
        <p:spPr>
          <a:xfrm>
            <a:off x="793790" y="838914"/>
            <a:ext cx="5903357"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3F3F2"/>
              </a:buClr>
              <a:buSzPts val="3550"/>
              <a:buFont typeface="IBM Plex Sans"/>
              <a:buNone/>
            </a:pPr>
            <a:r>
              <a:rPr b="0" i="0" lang="en-US" sz="3550" u="none" cap="none" strike="noStrike">
                <a:solidFill>
                  <a:srgbClr val="F3F3F2"/>
                </a:solidFill>
                <a:latin typeface="IBM Plex Sans"/>
                <a:ea typeface="IBM Plex Sans"/>
                <a:cs typeface="IBM Plex Sans"/>
                <a:sym typeface="IBM Plex Sans"/>
              </a:rPr>
              <a:t>Contesto Storico e Rilevanza</a:t>
            </a:r>
            <a:endParaRPr b="0" i="0" sz="3550" u="none" cap="none" strike="noStrike"/>
          </a:p>
        </p:txBody>
      </p:sp>
      <p:sp>
        <p:nvSpPr>
          <p:cNvPr id="94" name="Google Shape;94;p16"/>
          <p:cNvSpPr/>
          <p:nvPr/>
        </p:nvSpPr>
        <p:spPr>
          <a:xfrm>
            <a:off x="793790" y="1768793"/>
            <a:ext cx="13042821" cy="58054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L'Intel 8086 rappresenta un punto di svolta fondamentale nell'evoluzione dei microprocessori. Progettato come successore dell'8080, ha introdotto l'architettura a 16 bit, stabilendo un nuovo standard che avrebbe dominato il mercato per gli anni a venire.</a:t>
            </a:r>
            <a:endParaRPr b="0" i="0" sz="1400" u="none" cap="none" strike="noStrike"/>
          </a:p>
        </p:txBody>
      </p:sp>
      <p:sp>
        <p:nvSpPr>
          <p:cNvPr id="95" name="Google Shape;95;p16"/>
          <p:cNvSpPr/>
          <p:nvPr/>
        </p:nvSpPr>
        <p:spPr>
          <a:xfrm>
            <a:off x="793790" y="2553414"/>
            <a:ext cx="13042821" cy="87082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In un'epoca di rapida evoluzione tecnologica, l'8086 ha portato capacità computazionali senza precedenti ai sistemi desktop, consentendo lo sviluppo di applicazioni più complesse e performanti. La sua influenza si estende ben oltre il suo ciclo di vita, avendo gettato le fondamenta per la compatibilità software che caratterizza ancora oggi l'industria informatica.</a:t>
            </a:r>
            <a:endParaRPr b="0" i="0" sz="1400" u="none" cap="none" strike="noStrike"/>
          </a:p>
        </p:txBody>
      </p:sp>
      <p:sp>
        <p:nvSpPr>
          <p:cNvPr id="96" name="Google Shape;96;p16"/>
          <p:cNvSpPr/>
          <p:nvPr/>
        </p:nvSpPr>
        <p:spPr>
          <a:xfrm>
            <a:off x="793790" y="3628311"/>
            <a:ext cx="13042821" cy="58054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La sua architettura ha definito un paradigma che continua a influenzare la progettazione dei processori moderni, nonostante i numerosi avanzamenti tecnologici degli ultimi decenni.</a:t>
            </a:r>
            <a:endParaRPr b="0" i="0" sz="1400" u="none" cap="none" strike="noStrike"/>
          </a:p>
        </p:txBody>
      </p:sp>
      <p:sp>
        <p:nvSpPr>
          <p:cNvPr id="97" name="Google Shape;97;p16"/>
          <p:cNvSpPr/>
          <p:nvPr/>
        </p:nvSpPr>
        <p:spPr>
          <a:xfrm>
            <a:off x="793790" y="4412933"/>
            <a:ext cx="13042821" cy="87082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L'Intel 8086 è un esempio di processore con architettura CISC (Complex Instruction Set Computer). A differenza dell'architettura RISC (Reduced Instruction Set Computer), i processori CISC come l'8086 sono caratterizzati da un set di istruzioni più ampio e complesso, che consente di eseguire operazioni più sofisticate con un minor numero di istruzioni. Questo approccio offre vantaggi in termini di efficienza del codice, ma richiede circuiti più complessi nel processore.</a:t>
            </a:r>
            <a:endParaRPr b="0" i="0" sz="1400" u="none" cap="none" strike="noStrike"/>
          </a:p>
        </p:txBody>
      </p:sp>
      <p:sp>
        <p:nvSpPr>
          <p:cNvPr id="98" name="Google Shape;98;p16"/>
          <p:cNvSpPr/>
          <p:nvPr/>
        </p:nvSpPr>
        <p:spPr>
          <a:xfrm>
            <a:off x="793790" y="5691902"/>
            <a:ext cx="13042821" cy="22860"/>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p:nvPr/>
        </p:nvSpPr>
        <p:spPr>
          <a:xfrm>
            <a:off x="2327434" y="5691842"/>
            <a:ext cx="22860" cy="544354"/>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2134791" y="5487769"/>
            <a:ext cx="408265" cy="408265"/>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 name="Google Shape;101;p16"/>
          <p:cNvPicPr preferRelativeResize="0"/>
          <p:nvPr/>
        </p:nvPicPr>
        <p:blipFill rotWithShape="1">
          <a:blip r:embed="rId3">
            <a:alphaModFix/>
          </a:blip>
          <a:srcRect b="0" l="0" r="0" t="0"/>
          <a:stretch/>
        </p:blipFill>
        <p:spPr>
          <a:xfrm>
            <a:off x="2202775" y="5521762"/>
            <a:ext cx="272177" cy="340162"/>
          </a:xfrm>
          <a:prstGeom prst="rect">
            <a:avLst/>
          </a:prstGeom>
          <a:noFill/>
          <a:ln>
            <a:noFill/>
          </a:ln>
        </p:spPr>
      </p:pic>
      <p:sp>
        <p:nvSpPr>
          <p:cNvPr id="102" name="Google Shape;102;p16"/>
          <p:cNvSpPr/>
          <p:nvPr/>
        </p:nvSpPr>
        <p:spPr>
          <a:xfrm>
            <a:off x="1204913" y="6417707"/>
            <a:ext cx="2268260" cy="283488"/>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D4D4D1"/>
              </a:buClr>
              <a:buSzPts val="1750"/>
              <a:buFont typeface="IBM Plex Sans"/>
              <a:buNone/>
            </a:pPr>
            <a:r>
              <a:rPr b="0" i="0" lang="en-US" sz="1750" u="none" cap="none" strike="noStrike">
                <a:solidFill>
                  <a:srgbClr val="D4D4D1"/>
                </a:solidFill>
                <a:latin typeface="IBM Plex Sans"/>
                <a:ea typeface="IBM Plex Sans"/>
                <a:cs typeface="IBM Plex Sans"/>
                <a:sym typeface="IBM Plex Sans"/>
              </a:rPr>
              <a:t>1978</a:t>
            </a:r>
            <a:endParaRPr b="0" i="0" sz="1750" u="none" cap="none" strike="noStrike"/>
          </a:p>
        </p:txBody>
      </p:sp>
      <p:sp>
        <p:nvSpPr>
          <p:cNvPr id="103" name="Google Shape;103;p16"/>
          <p:cNvSpPr/>
          <p:nvPr/>
        </p:nvSpPr>
        <p:spPr>
          <a:xfrm>
            <a:off x="975241" y="6810018"/>
            <a:ext cx="2727603" cy="580549"/>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Introduzione dell'Intel 8086 a 16 bit</a:t>
            </a:r>
            <a:endParaRPr b="0" i="0" sz="1400" u="none" cap="none" strike="noStrike"/>
          </a:p>
        </p:txBody>
      </p:sp>
      <p:sp>
        <p:nvSpPr>
          <p:cNvPr id="104" name="Google Shape;104;p16"/>
          <p:cNvSpPr/>
          <p:nvPr/>
        </p:nvSpPr>
        <p:spPr>
          <a:xfrm>
            <a:off x="5644872" y="5691842"/>
            <a:ext cx="22860" cy="544354"/>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5452229" y="5487769"/>
            <a:ext cx="408265" cy="408265"/>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6" name="Google Shape;106;p16"/>
          <p:cNvPicPr preferRelativeResize="0"/>
          <p:nvPr/>
        </p:nvPicPr>
        <p:blipFill rotWithShape="1">
          <a:blip r:embed="rId4">
            <a:alphaModFix/>
          </a:blip>
          <a:srcRect b="0" l="0" r="0" t="0"/>
          <a:stretch/>
        </p:blipFill>
        <p:spPr>
          <a:xfrm>
            <a:off x="5520214" y="5521762"/>
            <a:ext cx="272177" cy="340162"/>
          </a:xfrm>
          <a:prstGeom prst="rect">
            <a:avLst/>
          </a:prstGeom>
          <a:noFill/>
          <a:ln>
            <a:noFill/>
          </a:ln>
        </p:spPr>
      </p:pic>
      <p:sp>
        <p:nvSpPr>
          <p:cNvPr id="107" name="Google Shape;107;p16"/>
          <p:cNvSpPr/>
          <p:nvPr/>
        </p:nvSpPr>
        <p:spPr>
          <a:xfrm>
            <a:off x="4522232" y="6417707"/>
            <a:ext cx="2268260" cy="283488"/>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D4D4D1"/>
              </a:buClr>
              <a:buSzPts val="1750"/>
              <a:buFont typeface="IBM Plex Sans"/>
              <a:buNone/>
            </a:pPr>
            <a:r>
              <a:rPr b="0" i="0" lang="en-US" sz="1750" u="none" cap="none" strike="noStrike">
                <a:solidFill>
                  <a:srgbClr val="D4D4D1"/>
                </a:solidFill>
                <a:latin typeface="IBM Plex Sans"/>
                <a:ea typeface="IBM Plex Sans"/>
                <a:cs typeface="IBM Plex Sans"/>
                <a:sym typeface="IBM Plex Sans"/>
              </a:rPr>
              <a:t>1981</a:t>
            </a:r>
            <a:endParaRPr b="0" i="0" sz="1750" u="none" cap="none" strike="noStrike"/>
          </a:p>
        </p:txBody>
      </p:sp>
      <p:sp>
        <p:nvSpPr>
          <p:cNvPr id="108" name="Google Shape;108;p16"/>
          <p:cNvSpPr/>
          <p:nvPr/>
        </p:nvSpPr>
        <p:spPr>
          <a:xfrm>
            <a:off x="4292560" y="6810018"/>
            <a:ext cx="2727722" cy="290274"/>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Adozione nell'IBM PC</a:t>
            </a:r>
            <a:endParaRPr b="0" i="0" sz="1400" u="none" cap="none" strike="noStrike"/>
          </a:p>
        </p:txBody>
      </p:sp>
      <p:sp>
        <p:nvSpPr>
          <p:cNvPr id="109" name="Google Shape;109;p16"/>
          <p:cNvSpPr/>
          <p:nvPr/>
        </p:nvSpPr>
        <p:spPr>
          <a:xfrm>
            <a:off x="8962311" y="5691842"/>
            <a:ext cx="22860" cy="544354"/>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8769668" y="5487769"/>
            <a:ext cx="408265" cy="408265"/>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 name="Google Shape;111;p16"/>
          <p:cNvPicPr preferRelativeResize="0"/>
          <p:nvPr/>
        </p:nvPicPr>
        <p:blipFill rotWithShape="1">
          <a:blip r:embed="rId5">
            <a:alphaModFix/>
          </a:blip>
          <a:srcRect b="0" l="0" r="0" t="0"/>
          <a:stretch/>
        </p:blipFill>
        <p:spPr>
          <a:xfrm>
            <a:off x="8837652" y="5521762"/>
            <a:ext cx="272177" cy="340162"/>
          </a:xfrm>
          <a:prstGeom prst="rect">
            <a:avLst/>
          </a:prstGeom>
          <a:noFill/>
          <a:ln>
            <a:noFill/>
          </a:ln>
        </p:spPr>
      </p:pic>
      <p:sp>
        <p:nvSpPr>
          <p:cNvPr id="112" name="Google Shape;112;p16"/>
          <p:cNvSpPr/>
          <p:nvPr/>
        </p:nvSpPr>
        <p:spPr>
          <a:xfrm>
            <a:off x="7839670" y="6417707"/>
            <a:ext cx="2268260" cy="283488"/>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D4D4D1"/>
              </a:buClr>
              <a:buSzPts val="1750"/>
              <a:buFont typeface="IBM Plex Sans"/>
              <a:buNone/>
            </a:pPr>
            <a:r>
              <a:rPr b="0" i="0" lang="en-US" sz="1750" u="none" cap="none" strike="noStrike">
                <a:solidFill>
                  <a:srgbClr val="D4D4D1"/>
                </a:solidFill>
                <a:latin typeface="IBM Plex Sans"/>
                <a:ea typeface="IBM Plex Sans"/>
                <a:cs typeface="IBM Plex Sans"/>
                <a:sym typeface="IBM Plex Sans"/>
              </a:rPr>
              <a:t>1982</a:t>
            </a:r>
            <a:endParaRPr b="0" i="0" sz="1750" u="none" cap="none" strike="noStrike"/>
          </a:p>
        </p:txBody>
      </p:sp>
      <p:sp>
        <p:nvSpPr>
          <p:cNvPr id="113" name="Google Shape;113;p16"/>
          <p:cNvSpPr/>
          <p:nvPr/>
        </p:nvSpPr>
        <p:spPr>
          <a:xfrm>
            <a:off x="7609999" y="6810018"/>
            <a:ext cx="2727722" cy="580549"/>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Sviluppo dei primi compilatori dedicati</a:t>
            </a:r>
            <a:endParaRPr b="0" i="0" sz="1400" u="none" cap="none" strike="noStrike"/>
          </a:p>
        </p:txBody>
      </p:sp>
      <p:sp>
        <p:nvSpPr>
          <p:cNvPr id="114" name="Google Shape;114;p16"/>
          <p:cNvSpPr/>
          <p:nvPr/>
        </p:nvSpPr>
        <p:spPr>
          <a:xfrm>
            <a:off x="12279749" y="5691842"/>
            <a:ext cx="22860" cy="544354"/>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12087106" y="5487769"/>
            <a:ext cx="408265" cy="408265"/>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 name="Google Shape;116;p16"/>
          <p:cNvPicPr preferRelativeResize="0"/>
          <p:nvPr/>
        </p:nvPicPr>
        <p:blipFill rotWithShape="1">
          <a:blip r:embed="rId6">
            <a:alphaModFix/>
          </a:blip>
          <a:srcRect b="0" l="0" r="0" t="0"/>
          <a:stretch/>
        </p:blipFill>
        <p:spPr>
          <a:xfrm>
            <a:off x="12155091" y="5521762"/>
            <a:ext cx="272177" cy="340162"/>
          </a:xfrm>
          <a:prstGeom prst="rect">
            <a:avLst/>
          </a:prstGeom>
          <a:noFill/>
          <a:ln>
            <a:noFill/>
          </a:ln>
        </p:spPr>
      </p:pic>
      <p:sp>
        <p:nvSpPr>
          <p:cNvPr id="117" name="Google Shape;117;p16"/>
          <p:cNvSpPr/>
          <p:nvPr/>
        </p:nvSpPr>
        <p:spPr>
          <a:xfrm>
            <a:off x="11157109" y="6417707"/>
            <a:ext cx="2268260" cy="283488"/>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D4D4D1"/>
              </a:buClr>
              <a:buSzPts val="1750"/>
              <a:buFont typeface="IBM Plex Sans"/>
              <a:buNone/>
            </a:pPr>
            <a:r>
              <a:rPr b="0" i="0" lang="en-US" sz="1750" u="none" cap="none" strike="noStrike">
                <a:solidFill>
                  <a:srgbClr val="D4D4D1"/>
                </a:solidFill>
                <a:latin typeface="IBM Plex Sans"/>
                <a:ea typeface="IBM Plex Sans"/>
                <a:cs typeface="IBM Plex Sans"/>
                <a:sym typeface="IBM Plex Sans"/>
              </a:rPr>
              <a:t>1985</a:t>
            </a:r>
            <a:endParaRPr b="0" i="0" sz="1750" u="none" cap="none" strike="noStrike"/>
          </a:p>
        </p:txBody>
      </p:sp>
      <p:sp>
        <p:nvSpPr>
          <p:cNvPr id="118" name="Google Shape;118;p16"/>
          <p:cNvSpPr/>
          <p:nvPr/>
        </p:nvSpPr>
        <p:spPr>
          <a:xfrm>
            <a:off x="10927437" y="6810018"/>
            <a:ext cx="2727722" cy="290274"/>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Evoluzione verso l'Intel 80286</a:t>
            </a:r>
            <a:endParaRPr b="0" i="0" sz="1400" u="none" cap="none" strike="noStrike"/>
          </a:p>
        </p:txBody>
      </p:sp>
      <p:pic>
        <p:nvPicPr>
          <p:cNvPr id="119" name="Google Shape;119;p16"/>
          <p:cNvPicPr preferRelativeResize="0"/>
          <p:nvPr/>
        </p:nvPicPr>
        <p:blipFill>
          <a:blip r:embed="rId7">
            <a:alphaModFix/>
          </a:blip>
          <a:stretch>
            <a:fillRect/>
          </a:stretch>
        </p:blipFill>
        <p:spPr>
          <a:xfrm>
            <a:off x="12626450" y="7664175"/>
            <a:ext cx="2003950" cy="580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7"/>
          <p:cNvSpPr/>
          <p:nvPr/>
        </p:nvSpPr>
        <p:spPr>
          <a:xfrm>
            <a:off x="793790" y="704255"/>
            <a:ext cx="5103614" cy="63793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4000"/>
              <a:buFont typeface="IBM Plex Sans"/>
              <a:buNone/>
            </a:pPr>
            <a:r>
              <a:rPr b="0" i="0" lang="en-US" sz="4000" u="none" cap="none" strike="noStrike">
                <a:solidFill>
                  <a:srgbClr val="F3F3F2"/>
                </a:solidFill>
                <a:latin typeface="IBM Plex Sans"/>
                <a:ea typeface="IBM Plex Sans"/>
                <a:cs typeface="IBM Plex Sans"/>
                <a:sym typeface="IBM Plex Sans"/>
              </a:rPr>
              <a:t>Architettura Interna</a:t>
            </a:r>
            <a:endParaRPr b="0" i="0" sz="4000" u="none" cap="none" strike="noStrike"/>
          </a:p>
        </p:txBody>
      </p:sp>
      <p:sp>
        <p:nvSpPr>
          <p:cNvPr id="126" name="Google Shape;126;p17"/>
          <p:cNvSpPr/>
          <p:nvPr/>
        </p:nvSpPr>
        <p:spPr>
          <a:xfrm>
            <a:off x="793790" y="1750457"/>
            <a:ext cx="13042821"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D4D4D1"/>
              </a:buClr>
              <a:buSzPts val="1600"/>
              <a:buFont typeface="Roboto"/>
              <a:buNone/>
            </a:pPr>
            <a:r>
              <a:rPr b="0" i="0" lang="en-US" sz="1600" u="none" cap="none" strike="noStrike">
                <a:solidFill>
                  <a:srgbClr val="D4D4D1"/>
                </a:solidFill>
                <a:latin typeface="Roboto"/>
                <a:ea typeface="Roboto"/>
                <a:cs typeface="Roboto"/>
                <a:sym typeface="Roboto"/>
              </a:rPr>
              <a:t>L'8086 si basa su due unità funzionali: l'Execution Unit (EU) e la Bus Interface Unit (BIU), che lavorano in parallelo per migliorare l'efficienza.</a:t>
            </a:r>
            <a:endParaRPr b="0" i="0" sz="1600" u="none" cap="none" strike="noStrike"/>
          </a:p>
        </p:txBody>
      </p:sp>
      <p:sp>
        <p:nvSpPr>
          <p:cNvPr id="127" name="Google Shape;127;p17"/>
          <p:cNvSpPr/>
          <p:nvPr/>
        </p:nvSpPr>
        <p:spPr>
          <a:xfrm>
            <a:off x="793790" y="2306717"/>
            <a:ext cx="13042821"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D4D4D1"/>
              </a:buClr>
              <a:buSzPts val="1600"/>
              <a:buFont typeface="Roboto"/>
              <a:buNone/>
            </a:pPr>
            <a:r>
              <a:rPr b="0" i="0" lang="en-US" sz="1600" u="none" cap="none" strike="noStrike">
                <a:solidFill>
                  <a:srgbClr val="D4D4D1"/>
                </a:solidFill>
                <a:latin typeface="Roboto"/>
                <a:ea typeface="Roboto"/>
                <a:cs typeface="Roboto"/>
                <a:sym typeface="Roboto"/>
              </a:rPr>
              <a:t>L'EU esegue le istruzioni mentre la BIU gestisce le comunicazioni con memoria e periferiche, ottimizzando il flusso di dati.</a:t>
            </a:r>
            <a:endParaRPr b="0" i="0" sz="1600" u="none" cap="none" strike="noStrike"/>
          </a:p>
        </p:txBody>
      </p:sp>
      <p:sp>
        <p:nvSpPr>
          <p:cNvPr id="128" name="Google Shape;128;p17"/>
          <p:cNvSpPr/>
          <p:nvPr/>
        </p:nvSpPr>
        <p:spPr>
          <a:xfrm>
            <a:off x="793790" y="2862977"/>
            <a:ext cx="13042821"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D4D4D1"/>
              </a:buClr>
              <a:buSzPts val="1600"/>
              <a:buFont typeface="Roboto"/>
              <a:buNone/>
            </a:pPr>
            <a:r>
              <a:rPr b="0" i="0" lang="en-US" sz="1600" u="none" cap="none" strike="noStrike">
                <a:solidFill>
                  <a:srgbClr val="D4D4D1"/>
                </a:solidFill>
                <a:latin typeface="Roboto"/>
                <a:ea typeface="Roboto"/>
                <a:cs typeface="Roboto"/>
                <a:sym typeface="Roboto"/>
              </a:rPr>
              <a:t>Questo modello ha anticipato il parallelismo dei processori moderni, aumentando le prestazioni.</a:t>
            </a:r>
            <a:endParaRPr b="0" i="0" sz="1600" u="none" cap="none" strike="noStrike"/>
          </a:p>
        </p:txBody>
      </p:sp>
      <p:sp>
        <p:nvSpPr>
          <p:cNvPr id="129" name="Google Shape;129;p17"/>
          <p:cNvSpPr/>
          <p:nvPr/>
        </p:nvSpPr>
        <p:spPr>
          <a:xfrm>
            <a:off x="793790" y="3623310"/>
            <a:ext cx="2551748"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000"/>
              <a:buFont typeface="IBM Plex Sans"/>
              <a:buNone/>
            </a:pPr>
            <a:r>
              <a:rPr b="0" i="0" lang="en-US" sz="2000" u="none" cap="none" strike="noStrike">
                <a:solidFill>
                  <a:srgbClr val="F3F3F2"/>
                </a:solidFill>
                <a:latin typeface="IBM Plex Sans"/>
                <a:ea typeface="IBM Plex Sans"/>
                <a:cs typeface="IBM Plex Sans"/>
                <a:sym typeface="IBM Plex Sans"/>
              </a:rPr>
              <a:t>Execution Unit (EU)</a:t>
            </a:r>
            <a:endParaRPr b="0" i="0" sz="2000" u="none" cap="none" strike="noStrike"/>
          </a:p>
        </p:txBody>
      </p:sp>
      <p:sp>
        <p:nvSpPr>
          <p:cNvPr id="130" name="Google Shape;130;p17"/>
          <p:cNvSpPr/>
          <p:nvPr/>
        </p:nvSpPr>
        <p:spPr>
          <a:xfrm>
            <a:off x="793790" y="4146232"/>
            <a:ext cx="4015145" cy="65341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D4D4D1"/>
              </a:buClr>
              <a:buSzPts val="1600"/>
              <a:buFont typeface="Roboto"/>
              <a:buNone/>
            </a:pPr>
            <a:r>
              <a:rPr b="0" i="0" lang="en-US" sz="1600" u="none" cap="none" strike="noStrike">
                <a:solidFill>
                  <a:srgbClr val="D4D4D1"/>
                </a:solidFill>
                <a:latin typeface="Roboto"/>
                <a:ea typeface="Roboto"/>
                <a:cs typeface="Roboto"/>
                <a:sym typeface="Roboto"/>
              </a:rPr>
              <a:t>Responsabile dell'esecuzione delle istruzioni. Include:</a:t>
            </a:r>
            <a:endParaRPr b="0" i="0" sz="1600" u="none" cap="none" strike="noStrike"/>
          </a:p>
        </p:txBody>
      </p:sp>
      <p:sp>
        <p:nvSpPr>
          <p:cNvPr id="131" name="Google Shape;131;p17"/>
          <p:cNvSpPr/>
          <p:nvPr/>
        </p:nvSpPr>
        <p:spPr>
          <a:xfrm>
            <a:off x="793790" y="4983361"/>
            <a:ext cx="4015145" cy="326708"/>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D4D4D1"/>
              </a:buClr>
              <a:buSzPts val="1600"/>
              <a:buFont typeface="Roboto"/>
              <a:buChar char="•"/>
            </a:pPr>
            <a:r>
              <a:rPr b="0" i="0" lang="en-US" sz="1600" u="none" cap="none" strike="noStrike">
                <a:solidFill>
                  <a:srgbClr val="D4D4D1"/>
                </a:solidFill>
                <a:latin typeface="Roboto"/>
                <a:ea typeface="Roboto"/>
                <a:cs typeface="Roboto"/>
                <a:sym typeface="Roboto"/>
              </a:rPr>
              <a:t>Unità di controllo</a:t>
            </a:r>
            <a:endParaRPr b="0" i="0" sz="1600" u="none" cap="none" strike="noStrike"/>
          </a:p>
        </p:txBody>
      </p:sp>
      <p:sp>
        <p:nvSpPr>
          <p:cNvPr id="132" name="Google Shape;132;p17"/>
          <p:cNvSpPr/>
          <p:nvPr/>
        </p:nvSpPr>
        <p:spPr>
          <a:xfrm>
            <a:off x="793790" y="5381506"/>
            <a:ext cx="4015145" cy="326708"/>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D4D4D1"/>
              </a:buClr>
              <a:buSzPts val="1600"/>
              <a:buFont typeface="Roboto"/>
              <a:buChar char="•"/>
            </a:pPr>
            <a:r>
              <a:rPr b="0" i="0" lang="en-US" sz="1600" u="none" cap="none" strike="noStrike">
                <a:solidFill>
                  <a:srgbClr val="D4D4D1"/>
                </a:solidFill>
                <a:latin typeface="Roboto"/>
                <a:ea typeface="Roboto"/>
                <a:cs typeface="Roboto"/>
                <a:sym typeface="Roboto"/>
              </a:rPr>
              <a:t>ALU</a:t>
            </a:r>
            <a:endParaRPr b="0" i="0" sz="1600" u="none" cap="none" strike="noStrike"/>
          </a:p>
        </p:txBody>
      </p:sp>
      <p:sp>
        <p:nvSpPr>
          <p:cNvPr id="133" name="Google Shape;133;p17"/>
          <p:cNvSpPr/>
          <p:nvPr/>
        </p:nvSpPr>
        <p:spPr>
          <a:xfrm>
            <a:off x="793790" y="5779651"/>
            <a:ext cx="4015145" cy="326708"/>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D4D4D1"/>
              </a:buClr>
              <a:buSzPts val="1600"/>
              <a:buFont typeface="Roboto"/>
              <a:buChar char="•"/>
            </a:pPr>
            <a:r>
              <a:rPr b="0" i="0" lang="en-US" sz="1600" u="none" cap="none" strike="noStrike">
                <a:solidFill>
                  <a:srgbClr val="D4D4D1"/>
                </a:solidFill>
                <a:latin typeface="Roboto"/>
                <a:ea typeface="Roboto"/>
                <a:cs typeface="Roboto"/>
                <a:sym typeface="Roboto"/>
              </a:rPr>
              <a:t>Registri generali</a:t>
            </a:r>
            <a:endParaRPr b="0" i="0" sz="1600" u="none" cap="none" strike="noStrike"/>
          </a:p>
        </p:txBody>
      </p:sp>
      <p:sp>
        <p:nvSpPr>
          <p:cNvPr id="134" name="Google Shape;134;p17"/>
          <p:cNvSpPr/>
          <p:nvPr/>
        </p:nvSpPr>
        <p:spPr>
          <a:xfrm>
            <a:off x="793790" y="6177796"/>
            <a:ext cx="4015145" cy="326708"/>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D4D4D1"/>
              </a:buClr>
              <a:buSzPts val="1600"/>
              <a:buFont typeface="Roboto"/>
              <a:buChar char="•"/>
            </a:pPr>
            <a:r>
              <a:rPr b="0" i="0" lang="en-US" sz="1600" u="none" cap="none" strike="noStrike">
                <a:solidFill>
                  <a:srgbClr val="D4D4D1"/>
                </a:solidFill>
                <a:latin typeface="Roboto"/>
                <a:ea typeface="Roboto"/>
                <a:cs typeface="Roboto"/>
                <a:sym typeface="Roboto"/>
              </a:rPr>
              <a:t>Registro di flag</a:t>
            </a:r>
            <a:endParaRPr b="0" i="0" sz="1600" u="none" cap="none" strike="noStrike"/>
          </a:p>
        </p:txBody>
      </p:sp>
      <p:sp>
        <p:nvSpPr>
          <p:cNvPr id="135" name="Google Shape;135;p17"/>
          <p:cNvSpPr/>
          <p:nvPr/>
        </p:nvSpPr>
        <p:spPr>
          <a:xfrm>
            <a:off x="793790" y="6688217"/>
            <a:ext cx="4015145" cy="65341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D4D4D1"/>
              </a:buClr>
              <a:buSzPts val="1600"/>
              <a:buFont typeface="Roboto"/>
              <a:buNone/>
            </a:pPr>
            <a:r>
              <a:rPr b="0" i="0" lang="en-US" sz="1600" u="none" cap="none" strike="noStrike">
                <a:solidFill>
                  <a:srgbClr val="D4D4D1"/>
                </a:solidFill>
                <a:latin typeface="Roboto"/>
                <a:ea typeface="Roboto"/>
                <a:cs typeface="Roboto"/>
                <a:sym typeface="Roboto"/>
              </a:rPr>
              <a:t>Elabora le istruzioni prelevate dalla prefetch queue e manipola i dati interni.</a:t>
            </a:r>
            <a:endParaRPr b="0" i="0" sz="1600" u="none" cap="none" strike="noStrike"/>
          </a:p>
        </p:txBody>
      </p:sp>
      <p:pic>
        <p:nvPicPr>
          <p:cNvPr descr="preencoded.png" id="136" name="Google Shape;136;p17"/>
          <p:cNvPicPr preferRelativeResize="0"/>
          <p:nvPr/>
        </p:nvPicPr>
        <p:blipFill rotWithShape="1">
          <a:blip r:embed="rId3">
            <a:alphaModFix/>
          </a:blip>
          <a:srcRect b="0" l="0" r="0" t="0"/>
          <a:stretch/>
        </p:blipFill>
        <p:spPr>
          <a:xfrm>
            <a:off x="5314474" y="3648789"/>
            <a:ext cx="4015145" cy="2408992"/>
          </a:xfrm>
          <a:prstGeom prst="rect">
            <a:avLst/>
          </a:prstGeom>
          <a:noFill/>
          <a:ln>
            <a:noFill/>
          </a:ln>
        </p:spPr>
      </p:pic>
      <p:sp>
        <p:nvSpPr>
          <p:cNvPr id="137" name="Google Shape;137;p17"/>
          <p:cNvSpPr/>
          <p:nvPr/>
        </p:nvSpPr>
        <p:spPr>
          <a:xfrm>
            <a:off x="9835158" y="3623310"/>
            <a:ext cx="2808446"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000"/>
              <a:buFont typeface="IBM Plex Sans"/>
              <a:buNone/>
            </a:pPr>
            <a:r>
              <a:rPr b="0" i="0" lang="en-US" sz="2000" u="none" cap="none" strike="noStrike">
                <a:solidFill>
                  <a:srgbClr val="F3F3F2"/>
                </a:solidFill>
                <a:latin typeface="IBM Plex Sans"/>
                <a:ea typeface="IBM Plex Sans"/>
                <a:cs typeface="IBM Plex Sans"/>
                <a:sym typeface="IBM Plex Sans"/>
              </a:rPr>
              <a:t>Bus Interface Unit (BIU)</a:t>
            </a:r>
            <a:endParaRPr b="0" i="0" sz="2000" u="none" cap="none" strike="noStrike"/>
          </a:p>
        </p:txBody>
      </p:sp>
      <p:sp>
        <p:nvSpPr>
          <p:cNvPr id="138" name="Google Shape;138;p17"/>
          <p:cNvSpPr/>
          <p:nvPr/>
        </p:nvSpPr>
        <p:spPr>
          <a:xfrm>
            <a:off x="9835158" y="4146232"/>
            <a:ext cx="4015145"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D4D4D1"/>
              </a:buClr>
              <a:buSzPts val="1600"/>
              <a:buFont typeface="Roboto"/>
              <a:buNone/>
            </a:pPr>
            <a:r>
              <a:rPr b="0" i="0" lang="en-US" sz="1600" u="none" cap="none" strike="noStrike">
                <a:solidFill>
                  <a:srgbClr val="D4D4D1"/>
                </a:solidFill>
                <a:latin typeface="Roboto"/>
                <a:ea typeface="Roboto"/>
                <a:cs typeface="Roboto"/>
                <a:sym typeface="Roboto"/>
              </a:rPr>
              <a:t>Gestisce le comunicazioni esterne. Include:</a:t>
            </a:r>
            <a:endParaRPr b="0" i="0" sz="1600" u="none" cap="none" strike="noStrike"/>
          </a:p>
        </p:txBody>
      </p:sp>
      <p:sp>
        <p:nvSpPr>
          <p:cNvPr id="139" name="Google Shape;139;p17"/>
          <p:cNvSpPr/>
          <p:nvPr/>
        </p:nvSpPr>
        <p:spPr>
          <a:xfrm>
            <a:off x="9835158" y="4656653"/>
            <a:ext cx="4015145" cy="326708"/>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D4D4D1"/>
              </a:buClr>
              <a:buSzPts val="1600"/>
              <a:buFont typeface="Roboto"/>
              <a:buChar char="•"/>
            </a:pPr>
            <a:r>
              <a:rPr b="0" i="0" lang="en-US" sz="1600" u="none" cap="none" strike="noStrike">
                <a:solidFill>
                  <a:srgbClr val="D4D4D1"/>
                </a:solidFill>
                <a:latin typeface="Roboto"/>
                <a:ea typeface="Roboto"/>
                <a:cs typeface="Roboto"/>
                <a:sym typeface="Roboto"/>
              </a:rPr>
              <a:t>Registri di segmento</a:t>
            </a:r>
            <a:endParaRPr b="0" i="0" sz="1600" u="none" cap="none" strike="noStrike"/>
          </a:p>
        </p:txBody>
      </p:sp>
      <p:sp>
        <p:nvSpPr>
          <p:cNvPr id="140" name="Google Shape;140;p17"/>
          <p:cNvSpPr/>
          <p:nvPr/>
        </p:nvSpPr>
        <p:spPr>
          <a:xfrm>
            <a:off x="9835158" y="5054798"/>
            <a:ext cx="4015145" cy="326708"/>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D4D4D1"/>
              </a:buClr>
              <a:buSzPts val="1600"/>
              <a:buFont typeface="Roboto"/>
              <a:buChar char="•"/>
            </a:pPr>
            <a:r>
              <a:rPr b="0" i="0" lang="en-US" sz="1600" u="none" cap="none" strike="noStrike">
                <a:solidFill>
                  <a:srgbClr val="D4D4D1"/>
                </a:solidFill>
                <a:latin typeface="Roboto"/>
                <a:ea typeface="Roboto"/>
                <a:cs typeface="Roboto"/>
                <a:sym typeface="Roboto"/>
              </a:rPr>
              <a:t>Instruction Pointer</a:t>
            </a:r>
            <a:endParaRPr b="0" i="0" sz="1600" u="none" cap="none" strike="noStrike"/>
          </a:p>
        </p:txBody>
      </p:sp>
      <p:sp>
        <p:nvSpPr>
          <p:cNvPr id="141" name="Google Shape;141;p17"/>
          <p:cNvSpPr/>
          <p:nvPr/>
        </p:nvSpPr>
        <p:spPr>
          <a:xfrm>
            <a:off x="9835158" y="5452943"/>
            <a:ext cx="4015145" cy="326708"/>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D4D4D1"/>
              </a:buClr>
              <a:buSzPts val="1600"/>
              <a:buFont typeface="Roboto"/>
              <a:buChar char="•"/>
            </a:pPr>
            <a:r>
              <a:rPr b="0" i="0" lang="en-US" sz="1600" u="none" cap="none" strike="noStrike">
                <a:solidFill>
                  <a:srgbClr val="D4D4D1"/>
                </a:solidFill>
                <a:latin typeface="Roboto"/>
                <a:ea typeface="Roboto"/>
                <a:cs typeface="Roboto"/>
                <a:sym typeface="Roboto"/>
              </a:rPr>
              <a:t>Prefetch Queue</a:t>
            </a:r>
            <a:endParaRPr b="0" i="0" sz="1600" u="none" cap="none" strike="noStrike"/>
          </a:p>
        </p:txBody>
      </p:sp>
      <p:sp>
        <p:nvSpPr>
          <p:cNvPr id="142" name="Google Shape;142;p17"/>
          <p:cNvSpPr/>
          <p:nvPr/>
        </p:nvSpPr>
        <p:spPr>
          <a:xfrm>
            <a:off x="9835158" y="5851088"/>
            <a:ext cx="4015145" cy="326708"/>
          </a:xfrm>
          <a:prstGeom prst="rect">
            <a:avLst/>
          </a:prstGeom>
          <a:noFill/>
          <a:ln>
            <a:noFill/>
          </a:ln>
        </p:spPr>
        <p:txBody>
          <a:bodyPr anchorCtr="0" anchor="t" bIns="0" lIns="0" spcFirstLastPara="1" rIns="0" wrap="square" tIns="0">
            <a:noAutofit/>
          </a:bodyPr>
          <a:lstStyle/>
          <a:p>
            <a:pPr indent="-342900" lvl="0" marL="342900" marR="0" rtl="0" algn="l">
              <a:lnSpc>
                <a:spcPct val="159375"/>
              </a:lnSpc>
              <a:spcBef>
                <a:spcPts val="0"/>
              </a:spcBef>
              <a:spcAft>
                <a:spcPts val="0"/>
              </a:spcAft>
              <a:buClr>
                <a:srgbClr val="D4D4D1"/>
              </a:buClr>
              <a:buSzPts val="1600"/>
              <a:buFont typeface="Roboto"/>
              <a:buChar char="•"/>
            </a:pPr>
            <a:r>
              <a:rPr b="0" i="0" lang="en-US" sz="1600" u="none" cap="none" strike="noStrike">
                <a:solidFill>
                  <a:srgbClr val="D4D4D1"/>
                </a:solidFill>
                <a:latin typeface="Roboto"/>
                <a:ea typeface="Roboto"/>
                <a:cs typeface="Roboto"/>
                <a:sym typeface="Roboto"/>
              </a:rPr>
              <a:t>Generatore di indirizzi</a:t>
            </a:r>
            <a:endParaRPr b="0" i="0" sz="1600" u="none" cap="none" strike="noStrike"/>
          </a:p>
        </p:txBody>
      </p:sp>
      <p:sp>
        <p:nvSpPr>
          <p:cNvPr id="143" name="Google Shape;143;p17"/>
          <p:cNvSpPr/>
          <p:nvPr/>
        </p:nvSpPr>
        <p:spPr>
          <a:xfrm>
            <a:off x="9835158" y="6361509"/>
            <a:ext cx="4015145"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D4D4D1"/>
              </a:buClr>
              <a:buSzPts val="1600"/>
              <a:buFont typeface="Roboto"/>
              <a:buNone/>
            </a:pPr>
            <a:r>
              <a:rPr b="0" i="0" lang="en-US" sz="1600" u="none" cap="none" strike="noStrike">
                <a:solidFill>
                  <a:srgbClr val="D4D4D1"/>
                </a:solidFill>
                <a:latin typeface="Roboto"/>
                <a:ea typeface="Roboto"/>
                <a:cs typeface="Roboto"/>
                <a:sym typeface="Roboto"/>
              </a:rPr>
              <a:t>Prefetcha le istruzioni e le invia all'EU.</a:t>
            </a:r>
            <a:endParaRPr b="0" i="0" sz="1600" u="none" cap="none" strike="noStrike"/>
          </a:p>
        </p:txBody>
      </p:sp>
      <p:pic>
        <p:nvPicPr>
          <p:cNvPr id="144" name="Google Shape;144;p17"/>
          <p:cNvPicPr preferRelativeResize="0"/>
          <p:nvPr/>
        </p:nvPicPr>
        <p:blipFill>
          <a:blip r:embed="rId4">
            <a:alphaModFix/>
          </a:blip>
          <a:stretch>
            <a:fillRect/>
          </a:stretch>
        </p:blipFill>
        <p:spPr>
          <a:xfrm>
            <a:off x="12526800" y="7559025"/>
            <a:ext cx="2103600" cy="653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8"/>
          <p:cNvSpPr/>
          <p:nvPr/>
        </p:nvSpPr>
        <p:spPr>
          <a:xfrm>
            <a:off x="793790" y="705803"/>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0" i="0" lang="en-US" sz="4450" u="none" cap="none" strike="noStrike">
                <a:solidFill>
                  <a:srgbClr val="F3F3F2"/>
                </a:solidFill>
                <a:latin typeface="IBM Plex Sans"/>
                <a:ea typeface="IBM Plex Sans"/>
                <a:cs typeface="IBM Plex Sans"/>
                <a:sym typeface="IBM Plex Sans"/>
              </a:rPr>
              <a:t>Unità Principali</a:t>
            </a:r>
            <a:endParaRPr b="0" i="0" sz="4450" u="none" cap="none" strike="noStrike"/>
          </a:p>
        </p:txBody>
      </p:sp>
      <p:sp>
        <p:nvSpPr>
          <p:cNvPr id="151" name="Google Shape;151;p18"/>
          <p:cNvSpPr/>
          <p:nvPr/>
        </p:nvSpPr>
        <p:spPr>
          <a:xfrm>
            <a:off x="793790" y="1754743"/>
            <a:ext cx="312050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200"/>
              <a:buFont typeface="IBM Plex Sans"/>
              <a:buNone/>
            </a:pPr>
            <a:r>
              <a:rPr b="0" i="0" lang="en-US" sz="2200" u="none" cap="none" strike="noStrike">
                <a:solidFill>
                  <a:srgbClr val="F3F3F2"/>
                </a:solidFill>
                <a:latin typeface="IBM Plex Sans"/>
                <a:ea typeface="IBM Plex Sans"/>
                <a:cs typeface="IBM Plex Sans"/>
                <a:sym typeface="IBM Plex Sans"/>
              </a:rPr>
              <a:t>BIU (Bus Interface Unit)</a:t>
            </a:r>
            <a:endParaRPr b="0" i="0" sz="2200" u="none" cap="none" strike="noStrike"/>
          </a:p>
        </p:txBody>
      </p:sp>
      <p:sp>
        <p:nvSpPr>
          <p:cNvPr id="152" name="Google Shape;152;p18"/>
          <p:cNvSpPr/>
          <p:nvPr/>
        </p:nvSpPr>
        <p:spPr>
          <a:xfrm>
            <a:off x="793790" y="2449235"/>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La Bus Interface Unit (BIU) è una delle due unità principali del microprocessore Intel 8086, fondamentale per la comunicazione con la memoria e i dispositivi di I/O.</a:t>
            </a:r>
            <a:endParaRPr b="0" i="0" sz="1750" u="none" cap="none" strike="noStrike"/>
          </a:p>
        </p:txBody>
      </p:sp>
      <p:sp>
        <p:nvSpPr>
          <p:cNvPr id="153" name="Google Shape;153;p18"/>
          <p:cNvSpPr/>
          <p:nvPr/>
        </p:nvSpPr>
        <p:spPr>
          <a:xfrm>
            <a:off x="793790" y="3430191"/>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La BIU si occupa della gestione del bus degli indirizzi e dei dati, assicurando che le informazioni corrette vengano trasmesse tra il processore e la memoria esterna.</a:t>
            </a:r>
            <a:endParaRPr b="0" i="0" sz="1750" u="none" cap="none" strike="noStrike"/>
          </a:p>
        </p:txBody>
      </p:sp>
      <p:sp>
        <p:nvSpPr>
          <p:cNvPr id="154" name="Google Shape;154;p18"/>
          <p:cNvSpPr/>
          <p:nvPr/>
        </p:nvSpPr>
        <p:spPr>
          <a:xfrm>
            <a:off x="793790" y="4411147"/>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Gestisce bus indirizzi e bus dati per il trasferimento delle informazioni</a:t>
            </a:r>
            <a:endParaRPr b="0" i="0" sz="1750" u="none" cap="none" strike="noStrike"/>
          </a:p>
        </p:txBody>
      </p:sp>
      <p:sp>
        <p:nvSpPr>
          <p:cNvPr id="155" name="Google Shape;155;p18"/>
          <p:cNvSpPr/>
          <p:nvPr/>
        </p:nvSpPr>
        <p:spPr>
          <a:xfrm>
            <a:off x="793790" y="4853345"/>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Preleva le istruzioni dalla memoria e le immagazzina nella coda di prefetch per un'esecuzione efficiente</a:t>
            </a:r>
            <a:endParaRPr b="0" i="0" sz="1750" u="none" cap="none" strike="noStrike"/>
          </a:p>
        </p:txBody>
      </p:sp>
      <p:sp>
        <p:nvSpPr>
          <p:cNvPr id="156" name="Google Shape;156;p18"/>
          <p:cNvSpPr/>
          <p:nvPr/>
        </p:nvSpPr>
        <p:spPr>
          <a:xfrm>
            <a:off x="793790" y="5295543"/>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Implementa la coda di prefetch che permette al microprocessore di anticipare e preparare le istruzioni successive</a:t>
            </a:r>
            <a:endParaRPr b="0" i="0" sz="1750" u="none" cap="none" strike="noStrike"/>
          </a:p>
        </p:txBody>
      </p:sp>
      <p:sp>
        <p:nvSpPr>
          <p:cNvPr id="157" name="Google Shape;157;p18"/>
          <p:cNvSpPr/>
          <p:nvPr/>
        </p:nvSpPr>
        <p:spPr>
          <a:xfrm>
            <a:off x="793790" y="5737741"/>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Calcola gli indirizzi fisici combinando lo spazio di segmento e l'offset per accedere alla memoria</a:t>
            </a:r>
            <a:endParaRPr b="0" i="0" sz="1750" u="none" cap="none" strike="noStrike"/>
          </a:p>
        </p:txBody>
      </p:sp>
      <p:sp>
        <p:nvSpPr>
          <p:cNvPr id="158" name="Google Shape;158;p18"/>
          <p:cNvSpPr/>
          <p:nvPr/>
        </p:nvSpPr>
        <p:spPr>
          <a:xfrm>
            <a:off x="793790" y="6179939"/>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Coordina l'accesso al bus per evitare conflitti con altre operazioni del processore</a:t>
            </a:r>
            <a:endParaRPr b="0" i="0" sz="1750" u="none" cap="none" strike="noStrike"/>
          </a:p>
        </p:txBody>
      </p:sp>
      <p:sp>
        <p:nvSpPr>
          <p:cNvPr id="159" name="Google Shape;159;p18"/>
          <p:cNvSpPr/>
          <p:nvPr/>
        </p:nvSpPr>
        <p:spPr>
          <a:xfrm>
            <a:off x="793790" y="6797993"/>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Questa gestione efficiente del bus è essenziale per mantenere un flusso continuo di istruzioni al processore, aumentando la velocità e l'efficienza del sistema.</a:t>
            </a:r>
            <a:endParaRPr b="0" i="0" sz="1750" u="none" cap="none" strike="noStrike"/>
          </a:p>
        </p:txBody>
      </p:sp>
      <p:pic>
        <p:nvPicPr>
          <p:cNvPr id="160" name="Google Shape;160;p18"/>
          <p:cNvPicPr preferRelativeResize="0"/>
          <p:nvPr/>
        </p:nvPicPr>
        <p:blipFill>
          <a:blip r:embed="rId3">
            <a:alphaModFix/>
          </a:blip>
          <a:stretch>
            <a:fillRect/>
          </a:stretch>
        </p:blipFill>
        <p:spPr>
          <a:xfrm>
            <a:off x="12236518" y="7778950"/>
            <a:ext cx="2393875" cy="409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p:nvPr/>
        </p:nvSpPr>
        <p:spPr>
          <a:xfrm>
            <a:off x="793790" y="1027628"/>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3F3F2"/>
              </a:buClr>
              <a:buSzPts val="4450"/>
              <a:buFont typeface="IBM Plex Sans"/>
              <a:buNone/>
            </a:pPr>
            <a:r>
              <a:rPr b="0" i="0" lang="en-US" sz="4450" u="none" cap="none" strike="noStrike">
                <a:solidFill>
                  <a:srgbClr val="F3F3F2"/>
                </a:solidFill>
                <a:latin typeface="IBM Plex Sans"/>
                <a:ea typeface="IBM Plex Sans"/>
                <a:cs typeface="IBM Plex Sans"/>
                <a:sym typeface="IBM Plex Sans"/>
              </a:rPr>
              <a:t>Unità Principali</a:t>
            </a:r>
            <a:endParaRPr b="0" i="0" sz="4450" u="none" cap="none" strike="noStrike"/>
          </a:p>
        </p:txBody>
      </p:sp>
      <p:sp>
        <p:nvSpPr>
          <p:cNvPr id="167" name="Google Shape;167;p19"/>
          <p:cNvSpPr/>
          <p:nvPr/>
        </p:nvSpPr>
        <p:spPr>
          <a:xfrm>
            <a:off x="793790" y="2076569"/>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200"/>
              <a:buFont typeface="IBM Plex Sans"/>
              <a:buNone/>
            </a:pPr>
            <a:r>
              <a:rPr b="0" i="0" lang="en-US" sz="2200" u="none" cap="none" strike="noStrike">
                <a:solidFill>
                  <a:srgbClr val="F3F3F2"/>
                </a:solidFill>
                <a:latin typeface="IBM Plex Sans"/>
                <a:ea typeface="IBM Plex Sans"/>
                <a:cs typeface="IBM Plex Sans"/>
                <a:sym typeface="IBM Plex Sans"/>
              </a:rPr>
              <a:t>EU (Execution Unit)</a:t>
            </a:r>
            <a:endParaRPr b="0" i="0" sz="2200" u="none" cap="none" strike="noStrike"/>
          </a:p>
        </p:txBody>
      </p:sp>
      <p:sp>
        <p:nvSpPr>
          <p:cNvPr id="168" name="Google Shape;168;p19"/>
          <p:cNvSpPr/>
          <p:nvPr/>
        </p:nvSpPr>
        <p:spPr>
          <a:xfrm>
            <a:off x="793790" y="2771061"/>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L'Execution Unit è il cuore del processore, dove avviene l'effettiva esecuzione delle istruzioni. Al suo interno si trova anche l'Exception Unit, che si occupa della gestione degli eventi eccezionali.</a:t>
            </a:r>
            <a:endParaRPr b="0" i="0" sz="1750" u="none" cap="none" strike="noStrike"/>
          </a:p>
        </p:txBody>
      </p:sp>
      <p:sp>
        <p:nvSpPr>
          <p:cNvPr id="169" name="Google Shape;169;p19"/>
          <p:cNvSpPr/>
          <p:nvPr/>
        </p:nvSpPr>
        <p:spPr>
          <a:xfrm>
            <a:off x="793790" y="3837027"/>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3F3F2"/>
              </a:buClr>
              <a:buSzPts val="2200"/>
              <a:buFont typeface="IBM Plex Sans"/>
              <a:buNone/>
            </a:pPr>
            <a:r>
              <a:rPr b="0" i="0" lang="en-US" sz="2200" u="none" cap="none" strike="noStrike">
                <a:solidFill>
                  <a:srgbClr val="F3F3F2"/>
                </a:solidFill>
                <a:latin typeface="IBM Plex Sans"/>
                <a:ea typeface="IBM Plex Sans"/>
                <a:cs typeface="IBM Plex Sans"/>
                <a:sym typeface="IBM Plex Sans"/>
              </a:rPr>
              <a:t>Exception Unit</a:t>
            </a:r>
            <a:endParaRPr b="0" i="0" sz="2200" u="none" cap="none" strike="noStrike"/>
          </a:p>
        </p:txBody>
      </p:sp>
      <p:sp>
        <p:nvSpPr>
          <p:cNvPr id="170" name="Google Shape;170;p19"/>
          <p:cNvSpPr/>
          <p:nvPr/>
        </p:nvSpPr>
        <p:spPr>
          <a:xfrm>
            <a:off x="793790" y="4531519"/>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4D4D1"/>
              </a:buClr>
              <a:buSzPts val="1750"/>
              <a:buFont typeface="Roboto"/>
              <a:buNone/>
            </a:pPr>
            <a:r>
              <a:rPr b="0" i="0" lang="en-US" sz="1750" u="none" cap="none" strike="noStrike">
                <a:solidFill>
                  <a:srgbClr val="D4D4D1"/>
                </a:solidFill>
                <a:latin typeface="Roboto"/>
                <a:ea typeface="Roboto"/>
                <a:cs typeface="Roboto"/>
                <a:sym typeface="Roboto"/>
              </a:rPr>
              <a:t>L'Exception Unit è responsabile della gestione degli errori e delle eccezioni che possono verificarsi durante l'esecuzione del programma.</a:t>
            </a:r>
            <a:endParaRPr b="0" i="0" sz="1750" u="none" cap="none" strike="noStrike"/>
          </a:p>
        </p:txBody>
      </p:sp>
      <p:sp>
        <p:nvSpPr>
          <p:cNvPr id="171" name="Google Shape;171;p19"/>
          <p:cNvSpPr/>
          <p:nvPr/>
        </p:nvSpPr>
        <p:spPr>
          <a:xfrm>
            <a:off x="793790" y="5512475"/>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Gestisce le interruzioni hardware e software</a:t>
            </a:r>
            <a:endParaRPr b="0" i="0" sz="1750" u="none" cap="none" strike="noStrike"/>
          </a:p>
        </p:txBody>
      </p:sp>
      <p:sp>
        <p:nvSpPr>
          <p:cNvPr id="172" name="Google Shape;172;p19"/>
          <p:cNvSpPr/>
          <p:nvPr/>
        </p:nvSpPr>
        <p:spPr>
          <a:xfrm>
            <a:off x="793790" y="5954673"/>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Salva lo stato del processore in caso di eccezione</a:t>
            </a:r>
            <a:endParaRPr b="0" i="0" sz="1750" u="none" cap="none" strike="noStrike"/>
          </a:p>
        </p:txBody>
      </p:sp>
      <p:sp>
        <p:nvSpPr>
          <p:cNvPr id="173" name="Google Shape;173;p19"/>
          <p:cNvSpPr/>
          <p:nvPr/>
        </p:nvSpPr>
        <p:spPr>
          <a:xfrm>
            <a:off x="793790" y="6396871"/>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Richiama il gestore di eccezioni appropriato</a:t>
            </a:r>
            <a:endParaRPr b="0" i="0" sz="1750" u="none" cap="none" strike="noStrike"/>
          </a:p>
        </p:txBody>
      </p:sp>
      <p:sp>
        <p:nvSpPr>
          <p:cNvPr id="174" name="Google Shape;174;p19"/>
          <p:cNvSpPr/>
          <p:nvPr/>
        </p:nvSpPr>
        <p:spPr>
          <a:xfrm>
            <a:off x="793790" y="6839069"/>
            <a:ext cx="13042821"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D4D4D1"/>
              </a:buClr>
              <a:buSzPts val="1750"/>
              <a:buFont typeface="Roboto"/>
              <a:buChar char="•"/>
            </a:pPr>
            <a:r>
              <a:rPr b="0" i="0" lang="en-US" sz="1750" u="none" cap="none" strike="noStrike">
                <a:solidFill>
                  <a:srgbClr val="D4D4D1"/>
                </a:solidFill>
                <a:latin typeface="Roboto"/>
                <a:ea typeface="Roboto"/>
                <a:cs typeface="Roboto"/>
                <a:sym typeface="Roboto"/>
              </a:rPr>
              <a:t>Ripristina lo stato del processore al ritorno dal gestore</a:t>
            </a:r>
            <a:endParaRPr b="0" i="0" sz="1750" u="none" cap="none" strike="noStrike"/>
          </a:p>
        </p:txBody>
      </p:sp>
      <p:pic>
        <p:nvPicPr>
          <p:cNvPr id="175" name="Google Shape;175;p19"/>
          <p:cNvPicPr preferRelativeResize="0"/>
          <p:nvPr/>
        </p:nvPicPr>
        <p:blipFill>
          <a:blip r:embed="rId3">
            <a:alphaModFix/>
          </a:blip>
          <a:stretch>
            <a:fillRect/>
          </a:stretch>
        </p:blipFill>
        <p:spPr>
          <a:xfrm>
            <a:off x="12665150" y="7723475"/>
            <a:ext cx="1965250" cy="506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preencoded.png" id="181" name="Google Shape;181;p20"/>
          <p:cNvPicPr preferRelativeResize="0"/>
          <p:nvPr/>
        </p:nvPicPr>
        <p:blipFill rotWithShape="1">
          <a:blip r:embed="rId3">
            <a:alphaModFix/>
          </a:blip>
          <a:srcRect b="0" l="0" r="0" t="0"/>
          <a:stretch/>
        </p:blipFill>
        <p:spPr>
          <a:xfrm>
            <a:off x="0" y="0"/>
            <a:ext cx="14630400" cy="1984653"/>
          </a:xfrm>
          <a:prstGeom prst="rect">
            <a:avLst/>
          </a:prstGeom>
          <a:noFill/>
          <a:ln>
            <a:noFill/>
          </a:ln>
        </p:spPr>
      </p:pic>
      <p:sp>
        <p:nvSpPr>
          <p:cNvPr id="182" name="Google Shape;182;p20"/>
          <p:cNvSpPr/>
          <p:nvPr/>
        </p:nvSpPr>
        <p:spPr>
          <a:xfrm>
            <a:off x="793790" y="2662357"/>
            <a:ext cx="3969425"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3F3F2"/>
              </a:buClr>
              <a:buSzPts val="3100"/>
              <a:buFont typeface="IBM Plex Sans"/>
              <a:buNone/>
            </a:pPr>
            <a:r>
              <a:rPr b="0" i="0" lang="en-US" sz="3100" u="none" cap="none" strike="noStrike">
                <a:solidFill>
                  <a:srgbClr val="F3F3F2"/>
                </a:solidFill>
                <a:latin typeface="IBM Plex Sans"/>
                <a:ea typeface="IBM Plex Sans"/>
                <a:cs typeface="IBM Plex Sans"/>
                <a:sym typeface="IBM Plex Sans"/>
              </a:rPr>
              <a:t>Registri Principali</a:t>
            </a:r>
            <a:endParaRPr b="0" i="0" sz="3100" u="none" cap="none" strike="noStrike"/>
          </a:p>
        </p:txBody>
      </p:sp>
      <p:sp>
        <p:nvSpPr>
          <p:cNvPr id="183" name="Google Shape;183;p20"/>
          <p:cNvSpPr/>
          <p:nvPr/>
        </p:nvSpPr>
        <p:spPr>
          <a:xfrm>
            <a:off x="793790" y="3396615"/>
            <a:ext cx="6442115" cy="1843445"/>
          </a:xfrm>
          <a:prstGeom prst="roundRect">
            <a:avLst>
              <a:gd fmla="val 1292"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
          <p:cNvSpPr/>
          <p:nvPr/>
        </p:nvSpPr>
        <p:spPr>
          <a:xfrm>
            <a:off x="952500" y="3555325"/>
            <a:ext cx="1984653"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D4D4D1"/>
              </a:buClr>
              <a:buSzPts val="1550"/>
              <a:buFont typeface="IBM Plex Sans"/>
              <a:buNone/>
            </a:pPr>
            <a:r>
              <a:rPr b="0" i="0" lang="en-US" sz="1550" u="none" cap="none" strike="noStrike">
                <a:solidFill>
                  <a:srgbClr val="D4D4D1"/>
                </a:solidFill>
                <a:latin typeface="IBM Plex Sans"/>
                <a:ea typeface="IBM Plex Sans"/>
                <a:cs typeface="IBM Plex Sans"/>
                <a:sym typeface="IBM Plex Sans"/>
              </a:rPr>
              <a:t>Registri Generali</a:t>
            </a:r>
            <a:endParaRPr b="0" i="0" sz="1550" u="none" cap="none" strike="noStrike"/>
          </a:p>
        </p:txBody>
      </p:sp>
      <p:sp>
        <p:nvSpPr>
          <p:cNvPr id="185" name="Google Shape;185;p20"/>
          <p:cNvSpPr/>
          <p:nvPr/>
        </p:nvSpPr>
        <p:spPr>
          <a:xfrm>
            <a:off x="952500" y="3898582"/>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AX (Accumulatore)</a:t>
            </a:r>
            <a:endParaRPr b="0" i="0" sz="1250" u="none" cap="none" strike="noStrike"/>
          </a:p>
        </p:txBody>
      </p:sp>
      <p:sp>
        <p:nvSpPr>
          <p:cNvPr id="186" name="Google Shape;186;p20"/>
          <p:cNvSpPr/>
          <p:nvPr/>
        </p:nvSpPr>
        <p:spPr>
          <a:xfrm>
            <a:off x="952500" y="4208145"/>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BX (Base)</a:t>
            </a:r>
            <a:endParaRPr b="0" i="0" sz="1250" u="none" cap="none" strike="noStrike"/>
          </a:p>
        </p:txBody>
      </p:sp>
      <p:sp>
        <p:nvSpPr>
          <p:cNvPr id="187" name="Google Shape;187;p20"/>
          <p:cNvSpPr/>
          <p:nvPr/>
        </p:nvSpPr>
        <p:spPr>
          <a:xfrm>
            <a:off x="952500" y="4517708"/>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CX (Contatore)</a:t>
            </a:r>
            <a:endParaRPr b="0" i="0" sz="1250" u="none" cap="none" strike="noStrike"/>
          </a:p>
        </p:txBody>
      </p:sp>
      <p:sp>
        <p:nvSpPr>
          <p:cNvPr id="188" name="Google Shape;188;p20"/>
          <p:cNvSpPr/>
          <p:nvPr/>
        </p:nvSpPr>
        <p:spPr>
          <a:xfrm>
            <a:off x="952500" y="4827270"/>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DX (Dati)</a:t>
            </a:r>
            <a:endParaRPr b="0" i="0" sz="1250" u="none" cap="none" strike="noStrike"/>
          </a:p>
        </p:txBody>
      </p:sp>
      <p:sp>
        <p:nvSpPr>
          <p:cNvPr id="189" name="Google Shape;189;p20"/>
          <p:cNvSpPr/>
          <p:nvPr/>
        </p:nvSpPr>
        <p:spPr>
          <a:xfrm>
            <a:off x="7394615" y="3396615"/>
            <a:ext cx="6442115" cy="1843445"/>
          </a:xfrm>
          <a:prstGeom prst="roundRect">
            <a:avLst>
              <a:gd fmla="val 1292"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a:off x="7553325" y="3555325"/>
            <a:ext cx="2311956"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D4D4D1"/>
              </a:buClr>
              <a:buSzPts val="1550"/>
              <a:buFont typeface="IBM Plex Sans"/>
              <a:buNone/>
            </a:pPr>
            <a:r>
              <a:rPr b="0" i="0" lang="en-US" sz="1550" u="none" cap="none" strike="noStrike">
                <a:solidFill>
                  <a:srgbClr val="D4D4D1"/>
                </a:solidFill>
                <a:latin typeface="IBM Plex Sans"/>
                <a:ea typeface="IBM Plex Sans"/>
                <a:cs typeface="IBM Plex Sans"/>
                <a:sym typeface="IBM Plex Sans"/>
              </a:rPr>
              <a:t>Registri Indici e Puntatori</a:t>
            </a:r>
            <a:endParaRPr b="0" i="0" sz="1550" u="none" cap="none" strike="noStrike"/>
          </a:p>
        </p:txBody>
      </p:sp>
      <p:sp>
        <p:nvSpPr>
          <p:cNvPr id="191" name="Google Shape;191;p20"/>
          <p:cNvSpPr/>
          <p:nvPr/>
        </p:nvSpPr>
        <p:spPr>
          <a:xfrm>
            <a:off x="7553325" y="3898582"/>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SI (Source Index)</a:t>
            </a:r>
            <a:endParaRPr b="0" i="0" sz="1250" u="none" cap="none" strike="noStrike"/>
          </a:p>
        </p:txBody>
      </p:sp>
      <p:sp>
        <p:nvSpPr>
          <p:cNvPr id="192" name="Google Shape;192;p20"/>
          <p:cNvSpPr/>
          <p:nvPr/>
        </p:nvSpPr>
        <p:spPr>
          <a:xfrm>
            <a:off x="7553325" y="4208145"/>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DI (Destination Index)</a:t>
            </a:r>
            <a:endParaRPr b="0" i="0" sz="1250" u="none" cap="none" strike="noStrike"/>
          </a:p>
        </p:txBody>
      </p:sp>
      <p:sp>
        <p:nvSpPr>
          <p:cNvPr id="193" name="Google Shape;193;p20"/>
          <p:cNvSpPr/>
          <p:nvPr/>
        </p:nvSpPr>
        <p:spPr>
          <a:xfrm>
            <a:off x="7553325" y="4517708"/>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SP (Stack Pointer)</a:t>
            </a:r>
            <a:endParaRPr b="0" i="0" sz="1250" u="none" cap="none" strike="noStrike"/>
          </a:p>
        </p:txBody>
      </p:sp>
      <p:sp>
        <p:nvSpPr>
          <p:cNvPr id="194" name="Google Shape;194;p20"/>
          <p:cNvSpPr/>
          <p:nvPr/>
        </p:nvSpPr>
        <p:spPr>
          <a:xfrm>
            <a:off x="7553325" y="4827270"/>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BP (Base Pointer)</a:t>
            </a:r>
            <a:endParaRPr b="0" i="0" sz="1250" u="none" cap="none" strike="noStrike"/>
          </a:p>
        </p:txBody>
      </p:sp>
      <p:sp>
        <p:nvSpPr>
          <p:cNvPr id="195" name="Google Shape;195;p20"/>
          <p:cNvSpPr/>
          <p:nvPr/>
        </p:nvSpPr>
        <p:spPr>
          <a:xfrm>
            <a:off x="793790" y="5398770"/>
            <a:ext cx="6442115" cy="2153007"/>
          </a:xfrm>
          <a:prstGeom prst="roundRect">
            <a:avLst>
              <a:gd fmla="val 1106"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
          <p:cNvSpPr/>
          <p:nvPr/>
        </p:nvSpPr>
        <p:spPr>
          <a:xfrm>
            <a:off x="952500" y="5557480"/>
            <a:ext cx="2639616"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D4D4D1"/>
              </a:buClr>
              <a:buSzPts val="1550"/>
              <a:buFont typeface="IBM Plex Sans"/>
              <a:buNone/>
            </a:pPr>
            <a:r>
              <a:rPr b="0" i="0" lang="en-US" sz="1550" u="none" cap="none" strike="noStrike">
                <a:solidFill>
                  <a:srgbClr val="D4D4D1"/>
                </a:solidFill>
                <a:latin typeface="IBM Plex Sans"/>
                <a:ea typeface="IBM Plex Sans"/>
                <a:cs typeface="IBM Plex Sans"/>
                <a:sym typeface="IBM Plex Sans"/>
              </a:rPr>
              <a:t>Registri Segmenti e Controllo</a:t>
            </a:r>
            <a:endParaRPr b="0" i="0" sz="1550" u="none" cap="none" strike="noStrike"/>
          </a:p>
        </p:txBody>
      </p:sp>
      <p:sp>
        <p:nvSpPr>
          <p:cNvPr id="197" name="Google Shape;197;p20"/>
          <p:cNvSpPr/>
          <p:nvPr/>
        </p:nvSpPr>
        <p:spPr>
          <a:xfrm>
            <a:off x="952500" y="5900738"/>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CS (Code Segment)</a:t>
            </a:r>
            <a:endParaRPr b="0" i="0" sz="1250" u="none" cap="none" strike="noStrike"/>
          </a:p>
        </p:txBody>
      </p:sp>
      <p:sp>
        <p:nvSpPr>
          <p:cNvPr id="198" name="Google Shape;198;p20"/>
          <p:cNvSpPr/>
          <p:nvPr/>
        </p:nvSpPr>
        <p:spPr>
          <a:xfrm>
            <a:off x="952500" y="6210300"/>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DS (Data Segment)</a:t>
            </a:r>
            <a:endParaRPr b="0" i="0" sz="1250" u="none" cap="none" strike="noStrike"/>
          </a:p>
        </p:txBody>
      </p:sp>
      <p:sp>
        <p:nvSpPr>
          <p:cNvPr id="199" name="Google Shape;199;p20"/>
          <p:cNvSpPr/>
          <p:nvPr/>
        </p:nvSpPr>
        <p:spPr>
          <a:xfrm>
            <a:off x="952500" y="6519863"/>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SS (Stack Segment)</a:t>
            </a:r>
            <a:endParaRPr b="0" i="0" sz="1250" u="none" cap="none" strike="noStrike"/>
          </a:p>
        </p:txBody>
      </p:sp>
      <p:sp>
        <p:nvSpPr>
          <p:cNvPr id="200" name="Google Shape;200;p20"/>
          <p:cNvSpPr/>
          <p:nvPr/>
        </p:nvSpPr>
        <p:spPr>
          <a:xfrm>
            <a:off x="952500" y="6829425"/>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ES (Extra Segment)</a:t>
            </a:r>
            <a:endParaRPr b="0" i="0" sz="1250" u="none" cap="none" strike="noStrike"/>
          </a:p>
        </p:txBody>
      </p:sp>
      <p:sp>
        <p:nvSpPr>
          <p:cNvPr id="201" name="Google Shape;201;p20"/>
          <p:cNvSpPr/>
          <p:nvPr/>
        </p:nvSpPr>
        <p:spPr>
          <a:xfrm>
            <a:off x="952500" y="7138988"/>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IP (Instruction Pointer)</a:t>
            </a:r>
            <a:endParaRPr b="0" i="0" sz="1250" u="none" cap="none" strike="noStrike"/>
          </a:p>
        </p:txBody>
      </p:sp>
      <p:sp>
        <p:nvSpPr>
          <p:cNvPr id="202" name="Google Shape;202;p20"/>
          <p:cNvSpPr/>
          <p:nvPr/>
        </p:nvSpPr>
        <p:spPr>
          <a:xfrm>
            <a:off x="7394615" y="5398770"/>
            <a:ext cx="6442115" cy="2153007"/>
          </a:xfrm>
          <a:prstGeom prst="roundRect">
            <a:avLst>
              <a:gd fmla="val 1106"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0"/>
          <p:cNvSpPr/>
          <p:nvPr/>
        </p:nvSpPr>
        <p:spPr>
          <a:xfrm>
            <a:off x="7553325" y="5557480"/>
            <a:ext cx="1984653"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D4D4D1"/>
              </a:buClr>
              <a:buSzPts val="1550"/>
              <a:buFont typeface="IBM Plex Sans"/>
              <a:buNone/>
            </a:pPr>
            <a:r>
              <a:rPr b="0" i="0" lang="en-US" sz="1550" u="none" cap="none" strike="noStrike">
                <a:solidFill>
                  <a:srgbClr val="D4D4D1"/>
                </a:solidFill>
                <a:latin typeface="IBM Plex Sans"/>
                <a:ea typeface="IBM Plex Sans"/>
                <a:cs typeface="IBM Plex Sans"/>
                <a:sym typeface="IBM Plex Sans"/>
              </a:rPr>
              <a:t>Registro FLAGS</a:t>
            </a:r>
            <a:endParaRPr b="0" i="0" sz="1550" u="none" cap="none" strike="noStrike"/>
          </a:p>
        </p:txBody>
      </p:sp>
      <p:sp>
        <p:nvSpPr>
          <p:cNvPr id="204" name="Google Shape;204;p20"/>
          <p:cNvSpPr/>
          <p:nvPr/>
        </p:nvSpPr>
        <p:spPr>
          <a:xfrm>
            <a:off x="7553325" y="5900738"/>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CF (Carry Flag)</a:t>
            </a:r>
            <a:endParaRPr b="0" i="0" sz="1250" u="none" cap="none" strike="noStrike"/>
          </a:p>
        </p:txBody>
      </p:sp>
      <p:sp>
        <p:nvSpPr>
          <p:cNvPr id="205" name="Google Shape;205;p20"/>
          <p:cNvSpPr/>
          <p:nvPr/>
        </p:nvSpPr>
        <p:spPr>
          <a:xfrm>
            <a:off x="7553325" y="6210300"/>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ZF (Zero Flag)</a:t>
            </a:r>
            <a:endParaRPr b="0" i="0" sz="1250" u="none" cap="none" strike="noStrike"/>
          </a:p>
        </p:txBody>
      </p:sp>
      <p:sp>
        <p:nvSpPr>
          <p:cNvPr id="206" name="Google Shape;206;p20"/>
          <p:cNvSpPr/>
          <p:nvPr/>
        </p:nvSpPr>
        <p:spPr>
          <a:xfrm>
            <a:off x="7553325" y="6519863"/>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SF (Sign Flag)</a:t>
            </a:r>
            <a:endParaRPr b="0" i="0" sz="1250" u="none" cap="none" strike="noStrike"/>
          </a:p>
        </p:txBody>
      </p:sp>
      <p:sp>
        <p:nvSpPr>
          <p:cNvPr id="207" name="Google Shape;207;p20"/>
          <p:cNvSpPr/>
          <p:nvPr/>
        </p:nvSpPr>
        <p:spPr>
          <a:xfrm>
            <a:off x="7553325" y="6829425"/>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OF (Overflow Flag)</a:t>
            </a:r>
            <a:endParaRPr b="0" i="0" sz="1250" u="none" cap="none" strike="noStrike"/>
          </a:p>
        </p:txBody>
      </p:sp>
      <p:sp>
        <p:nvSpPr>
          <p:cNvPr id="208" name="Google Shape;208;p20"/>
          <p:cNvSpPr/>
          <p:nvPr/>
        </p:nvSpPr>
        <p:spPr>
          <a:xfrm>
            <a:off x="7553325" y="7138988"/>
            <a:ext cx="6124694" cy="254079"/>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D4D4D1"/>
              </a:buClr>
              <a:buSzPts val="1250"/>
              <a:buFont typeface="Roboto"/>
              <a:buChar char="•"/>
            </a:pPr>
            <a:r>
              <a:rPr b="0" i="0" lang="en-US" sz="1250" u="none" cap="none" strike="noStrike">
                <a:solidFill>
                  <a:srgbClr val="D4D4D1"/>
                </a:solidFill>
                <a:latin typeface="Roboto"/>
                <a:ea typeface="Roboto"/>
                <a:cs typeface="Roboto"/>
                <a:sym typeface="Roboto"/>
              </a:rPr>
              <a:t>Altri flag di stato</a:t>
            </a:r>
            <a:endParaRPr b="0" i="0" sz="1250" u="none" cap="none" strike="noStrike"/>
          </a:p>
        </p:txBody>
      </p:sp>
      <p:pic>
        <p:nvPicPr>
          <p:cNvPr id="209" name="Google Shape;209;p20"/>
          <p:cNvPicPr preferRelativeResize="0"/>
          <p:nvPr/>
        </p:nvPicPr>
        <p:blipFill>
          <a:blip r:embed="rId4">
            <a:alphaModFix/>
          </a:blip>
          <a:stretch>
            <a:fillRect/>
          </a:stretch>
        </p:blipFill>
        <p:spPr>
          <a:xfrm>
            <a:off x="12649325" y="7710500"/>
            <a:ext cx="1984650" cy="496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1"/>
          <p:cNvSpPr/>
          <p:nvPr/>
        </p:nvSpPr>
        <p:spPr>
          <a:xfrm>
            <a:off x="598408" y="470416"/>
            <a:ext cx="3837503" cy="347305"/>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3F3F2"/>
              </a:buClr>
              <a:buSzPts val="2150"/>
              <a:buFont typeface="IBM Plex Sans"/>
              <a:buNone/>
            </a:pPr>
            <a:r>
              <a:rPr b="0" i="0" lang="en-US" sz="2150" u="none" cap="none" strike="noStrike">
                <a:solidFill>
                  <a:srgbClr val="F3F3F2"/>
                </a:solidFill>
                <a:latin typeface="IBM Plex Sans"/>
                <a:ea typeface="IBM Plex Sans"/>
                <a:cs typeface="IBM Plex Sans"/>
                <a:sym typeface="IBM Plex Sans"/>
              </a:rPr>
              <a:t>Segmentazione della Memoria</a:t>
            </a:r>
            <a:endParaRPr b="0" i="0" sz="2150" u="none" cap="none" strike="noStrike"/>
          </a:p>
        </p:txBody>
      </p:sp>
      <p:pic>
        <p:nvPicPr>
          <p:cNvPr descr="preencoded.png" id="216" name="Google Shape;216;p21"/>
          <p:cNvPicPr preferRelativeResize="0"/>
          <p:nvPr/>
        </p:nvPicPr>
        <p:blipFill rotWithShape="1">
          <a:blip r:embed="rId3">
            <a:alphaModFix/>
          </a:blip>
          <a:srcRect b="0" l="0" r="0" t="0"/>
          <a:stretch/>
        </p:blipFill>
        <p:spPr>
          <a:xfrm>
            <a:off x="2848451" y="1040011"/>
            <a:ext cx="2216468" cy="640318"/>
          </a:xfrm>
          <a:prstGeom prst="rect">
            <a:avLst/>
          </a:prstGeom>
          <a:noFill/>
          <a:ln>
            <a:noFill/>
          </a:ln>
        </p:spPr>
      </p:pic>
      <p:pic>
        <p:nvPicPr>
          <p:cNvPr descr="preencoded.png" id="217" name="Google Shape;217;p21"/>
          <p:cNvPicPr preferRelativeResize="0"/>
          <p:nvPr/>
        </p:nvPicPr>
        <p:blipFill rotWithShape="1">
          <a:blip r:embed="rId4">
            <a:alphaModFix/>
          </a:blip>
          <a:srcRect b="0" l="0" r="0" t="0"/>
          <a:stretch/>
        </p:blipFill>
        <p:spPr>
          <a:xfrm>
            <a:off x="3878580" y="1341834"/>
            <a:ext cx="156210" cy="195262"/>
          </a:xfrm>
          <a:prstGeom prst="rect">
            <a:avLst/>
          </a:prstGeom>
          <a:noFill/>
          <a:ln>
            <a:noFill/>
          </a:ln>
        </p:spPr>
      </p:pic>
      <p:sp>
        <p:nvSpPr>
          <p:cNvPr id="218" name="Google Shape;218;p21"/>
          <p:cNvSpPr/>
          <p:nvPr/>
        </p:nvSpPr>
        <p:spPr>
          <a:xfrm>
            <a:off x="5176004" y="1151096"/>
            <a:ext cx="2851785" cy="173593"/>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1 MB indirizzabile tramite segmenti da 64 KB</a:t>
            </a:r>
            <a:endParaRPr b="0" i="0" sz="1050" u="none" cap="none" strike="noStrike"/>
          </a:p>
        </p:txBody>
      </p:sp>
      <p:sp>
        <p:nvSpPr>
          <p:cNvPr id="219" name="Google Shape;219;p21"/>
          <p:cNvSpPr/>
          <p:nvPr/>
        </p:nvSpPr>
        <p:spPr>
          <a:xfrm>
            <a:off x="5176004" y="1391364"/>
            <a:ext cx="2851785"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Spazio di memoria totale accessibile</a:t>
            </a:r>
            <a:endParaRPr b="0" i="0" sz="850" u="none" cap="none" strike="noStrike"/>
          </a:p>
        </p:txBody>
      </p:sp>
      <p:sp>
        <p:nvSpPr>
          <p:cNvPr id="220" name="Google Shape;220;p21"/>
          <p:cNvSpPr/>
          <p:nvPr/>
        </p:nvSpPr>
        <p:spPr>
          <a:xfrm>
            <a:off x="5092660" y="1690330"/>
            <a:ext cx="8911590" cy="7620"/>
          </a:xfrm>
          <a:prstGeom prst="roundRect">
            <a:avLst>
              <a:gd fmla="val 218791"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1" name="Google Shape;221;p21"/>
          <p:cNvPicPr preferRelativeResize="0"/>
          <p:nvPr/>
        </p:nvPicPr>
        <p:blipFill rotWithShape="1">
          <a:blip r:embed="rId5">
            <a:alphaModFix/>
          </a:blip>
          <a:srcRect b="0" l="0" r="0" t="0"/>
          <a:stretch/>
        </p:blipFill>
        <p:spPr>
          <a:xfrm>
            <a:off x="1740218" y="1708071"/>
            <a:ext cx="4433054" cy="640318"/>
          </a:xfrm>
          <a:prstGeom prst="rect">
            <a:avLst/>
          </a:prstGeom>
          <a:noFill/>
          <a:ln>
            <a:noFill/>
          </a:ln>
        </p:spPr>
      </p:pic>
      <p:pic>
        <p:nvPicPr>
          <p:cNvPr descr="preencoded.png" id="222" name="Google Shape;222;p21"/>
          <p:cNvPicPr preferRelativeResize="0"/>
          <p:nvPr/>
        </p:nvPicPr>
        <p:blipFill rotWithShape="1">
          <a:blip r:embed="rId6">
            <a:alphaModFix/>
          </a:blip>
          <a:srcRect b="0" l="0" r="0" t="0"/>
          <a:stretch/>
        </p:blipFill>
        <p:spPr>
          <a:xfrm>
            <a:off x="3878580" y="1930598"/>
            <a:ext cx="156210" cy="195262"/>
          </a:xfrm>
          <a:prstGeom prst="rect">
            <a:avLst/>
          </a:prstGeom>
          <a:noFill/>
          <a:ln>
            <a:noFill/>
          </a:ln>
        </p:spPr>
      </p:pic>
      <p:sp>
        <p:nvSpPr>
          <p:cNvPr id="223" name="Google Shape;223;p21"/>
          <p:cNvSpPr/>
          <p:nvPr/>
        </p:nvSpPr>
        <p:spPr>
          <a:xfrm>
            <a:off x="6284357" y="1819156"/>
            <a:ext cx="2030373" cy="173593"/>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4 segmenti attivi: CS, DS, SS, ES</a:t>
            </a:r>
            <a:endParaRPr b="0" i="0" sz="1050" u="none" cap="none" strike="noStrike"/>
          </a:p>
        </p:txBody>
      </p:sp>
      <p:sp>
        <p:nvSpPr>
          <p:cNvPr id="224" name="Google Shape;224;p21"/>
          <p:cNvSpPr/>
          <p:nvPr/>
        </p:nvSpPr>
        <p:spPr>
          <a:xfrm>
            <a:off x="6284357" y="2059424"/>
            <a:ext cx="2030373"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Segmenti per codice, dati, stack e extra</a:t>
            </a:r>
            <a:endParaRPr b="0" i="0" sz="850" u="none" cap="none" strike="noStrike"/>
          </a:p>
        </p:txBody>
      </p:sp>
      <p:sp>
        <p:nvSpPr>
          <p:cNvPr id="225" name="Google Shape;225;p21"/>
          <p:cNvSpPr/>
          <p:nvPr/>
        </p:nvSpPr>
        <p:spPr>
          <a:xfrm>
            <a:off x="6201013" y="2358390"/>
            <a:ext cx="7803237" cy="7620"/>
          </a:xfrm>
          <a:prstGeom prst="roundRect">
            <a:avLst>
              <a:gd fmla="val 218791"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6" name="Google Shape;226;p21"/>
          <p:cNvPicPr preferRelativeResize="0"/>
          <p:nvPr/>
        </p:nvPicPr>
        <p:blipFill rotWithShape="1">
          <a:blip r:embed="rId7">
            <a:alphaModFix/>
          </a:blip>
          <a:srcRect b="0" l="0" r="0" t="0"/>
          <a:stretch/>
        </p:blipFill>
        <p:spPr>
          <a:xfrm>
            <a:off x="631984" y="2376130"/>
            <a:ext cx="6649522" cy="640318"/>
          </a:xfrm>
          <a:prstGeom prst="rect">
            <a:avLst/>
          </a:prstGeom>
          <a:noFill/>
          <a:ln>
            <a:noFill/>
          </a:ln>
        </p:spPr>
      </p:pic>
      <p:pic>
        <p:nvPicPr>
          <p:cNvPr descr="preencoded.png" id="227" name="Google Shape;227;p21"/>
          <p:cNvPicPr preferRelativeResize="0"/>
          <p:nvPr/>
        </p:nvPicPr>
        <p:blipFill rotWithShape="1">
          <a:blip r:embed="rId8">
            <a:alphaModFix/>
          </a:blip>
          <a:srcRect b="0" l="0" r="0" t="0"/>
          <a:stretch/>
        </p:blipFill>
        <p:spPr>
          <a:xfrm>
            <a:off x="3878580" y="2598658"/>
            <a:ext cx="156210" cy="195262"/>
          </a:xfrm>
          <a:prstGeom prst="rect">
            <a:avLst/>
          </a:prstGeom>
          <a:noFill/>
          <a:ln>
            <a:noFill/>
          </a:ln>
        </p:spPr>
      </p:pic>
      <p:sp>
        <p:nvSpPr>
          <p:cNvPr id="228" name="Google Shape;228;p21"/>
          <p:cNvSpPr/>
          <p:nvPr/>
        </p:nvSpPr>
        <p:spPr>
          <a:xfrm>
            <a:off x="7392591" y="2487216"/>
            <a:ext cx="2575322" cy="173593"/>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Indirizzo fisico = Segmento × 16 + Offset</a:t>
            </a:r>
            <a:endParaRPr b="0" i="0" sz="1050" u="none" cap="none" strike="noStrike"/>
          </a:p>
        </p:txBody>
      </p:sp>
      <p:sp>
        <p:nvSpPr>
          <p:cNvPr id="229" name="Google Shape;229;p21"/>
          <p:cNvSpPr/>
          <p:nvPr/>
        </p:nvSpPr>
        <p:spPr>
          <a:xfrm>
            <a:off x="7392591" y="2727484"/>
            <a:ext cx="2575322"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Formula per calcolare l'indirizzo fisico</a:t>
            </a:r>
            <a:endParaRPr b="0" i="0" sz="850" u="none" cap="none" strike="noStrike"/>
          </a:p>
        </p:txBody>
      </p:sp>
      <p:sp>
        <p:nvSpPr>
          <p:cNvPr id="230" name="Google Shape;230;p21"/>
          <p:cNvSpPr/>
          <p:nvPr/>
        </p:nvSpPr>
        <p:spPr>
          <a:xfrm>
            <a:off x="598408" y="3141464"/>
            <a:ext cx="13433584"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L'8086 accede a 1 MB di memoria tramite segmenti da 64 KB. Sono attivi quattro segmenti: CS (codice), DS (dati), SS (stack) ed ES (extra). L'indirizzo fisico si calcola moltiplicando il registro segmento per 16 e sommando l'offset.</a:t>
            </a:r>
            <a:endParaRPr b="0" i="0" sz="850" u="none" cap="none" strike="noStrike"/>
          </a:p>
        </p:txBody>
      </p:sp>
      <p:sp>
        <p:nvSpPr>
          <p:cNvPr id="231" name="Google Shape;231;p21"/>
          <p:cNvSpPr/>
          <p:nvPr/>
        </p:nvSpPr>
        <p:spPr>
          <a:xfrm>
            <a:off x="598408" y="3444359"/>
            <a:ext cx="13433584"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Questa segmentazione separa codice, dati e stack, migliorando protezione e organizzazione. Ogni segmento può spostarsi indipendentemente, offrendo flessibilità nella gestione della memoria.</a:t>
            </a:r>
            <a:endParaRPr b="0" i="0" sz="850" u="none" cap="none" strike="noStrike"/>
          </a:p>
        </p:txBody>
      </p:sp>
      <p:sp>
        <p:nvSpPr>
          <p:cNvPr id="232" name="Google Shape;232;p21"/>
          <p:cNvSpPr/>
          <p:nvPr/>
        </p:nvSpPr>
        <p:spPr>
          <a:xfrm>
            <a:off x="598408" y="3747254"/>
            <a:ext cx="13433584"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Gli offset specificano la posizione all'interno di ogni segmento, permettendo l'indirizzamento diretto di ogni byte e superando il limite di 64 KB dei processori a 16 bit.</a:t>
            </a:r>
            <a:endParaRPr b="0" i="0" sz="850" u="none" cap="none" strike="noStrike"/>
          </a:p>
        </p:txBody>
      </p:sp>
      <p:sp>
        <p:nvSpPr>
          <p:cNvPr id="233" name="Google Shape;233;p21"/>
          <p:cNvSpPr/>
          <p:nvPr/>
        </p:nvSpPr>
        <p:spPr>
          <a:xfrm>
            <a:off x="598408" y="4091821"/>
            <a:ext cx="3837503" cy="347305"/>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3F3F2"/>
              </a:buClr>
              <a:buSzPts val="2150"/>
              <a:buFont typeface="IBM Plex Sans"/>
              <a:buNone/>
            </a:pPr>
            <a:r>
              <a:rPr b="0" i="0" lang="en-US" sz="2150" u="none" cap="none" strike="noStrike">
                <a:solidFill>
                  <a:srgbClr val="F3F3F2"/>
                </a:solidFill>
                <a:latin typeface="IBM Plex Sans"/>
                <a:ea typeface="IBM Plex Sans"/>
                <a:cs typeface="IBM Plex Sans"/>
                <a:sym typeface="IBM Plex Sans"/>
              </a:rPr>
              <a:t>Segmentazione della Memoria</a:t>
            </a:r>
            <a:endParaRPr b="0" i="0" sz="2150" u="none" cap="none" strike="noStrike"/>
          </a:p>
        </p:txBody>
      </p:sp>
      <p:sp>
        <p:nvSpPr>
          <p:cNvPr id="234" name="Google Shape;234;p21"/>
          <p:cNvSpPr/>
          <p:nvPr/>
        </p:nvSpPr>
        <p:spPr>
          <a:xfrm>
            <a:off x="598408" y="4605814"/>
            <a:ext cx="13433584"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Il modello segmentato risolve il limite dei registri a 16 bit estendendo l'indirizzamento a 20 bit tramite segmenti di 64 KB, individuati da registri a 16 bit.</a:t>
            </a:r>
            <a:endParaRPr b="0" i="0" sz="850" u="none" cap="none" strike="noStrike"/>
          </a:p>
        </p:txBody>
      </p:sp>
      <p:sp>
        <p:nvSpPr>
          <p:cNvPr id="235" name="Google Shape;235;p21"/>
          <p:cNvSpPr/>
          <p:nvPr/>
        </p:nvSpPr>
        <p:spPr>
          <a:xfrm>
            <a:off x="598408" y="4908709"/>
            <a:ext cx="13433584"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Ogni indirizzo si ottiene combinando il registro segmento, spostato di 4 bit a sinistra (×16), con un offset a 16 bit, creando "finestre" di 64 KB nel totale da 1 MB.</a:t>
            </a:r>
            <a:endParaRPr b="0" i="0" sz="850" u="none" cap="none" strike="noStrike"/>
          </a:p>
        </p:txBody>
      </p:sp>
      <p:sp>
        <p:nvSpPr>
          <p:cNvPr id="236" name="Google Shape;236;p21"/>
          <p:cNvSpPr/>
          <p:nvPr/>
        </p:nvSpPr>
        <p:spPr>
          <a:xfrm>
            <a:off x="598408" y="5211604"/>
            <a:ext cx="13433584"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I quattro registri specializzati sono CS (istruzioni), DS (dati), SS (stack) ed ES (dati extra e stringhe).</a:t>
            </a:r>
            <a:endParaRPr b="0" i="0" sz="850" u="none" cap="none" strike="noStrike"/>
          </a:p>
        </p:txBody>
      </p:sp>
      <p:sp>
        <p:nvSpPr>
          <p:cNvPr id="237" name="Google Shape;237;p21"/>
          <p:cNvSpPr/>
          <p:nvPr/>
        </p:nvSpPr>
        <p:spPr>
          <a:xfrm>
            <a:off x="598408" y="5569982"/>
            <a:ext cx="4366736" cy="3667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4D4D1"/>
              </a:buClr>
              <a:buSzPts val="2850"/>
              <a:buFont typeface="IBM Plex Sans"/>
              <a:buNone/>
            </a:pPr>
            <a:r>
              <a:rPr b="0" i="0" lang="en-US" sz="2850" u="none" cap="none" strike="noStrike">
                <a:solidFill>
                  <a:srgbClr val="D4D4D1"/>
                </a:solidFill>
                <a:latin typeface="IBM Plex Sans"/>
                <a:ea typeface="IBM Plex Sans"/>
                <a:cs typeface="IBM Plex Sans"/>
                <a:sym typeface="IBM Plex Sans"/>
              </a:rPr>
              <a:t>1 MB</a:t>
            </a:r>
            <a:endParaRPr b="0" i="0" sz="2850" u="none" cap="none" strike="noStrike"/>
          </a:p>
        </p:txBody>
      </p:sp>
      <p:sp>
        <p:nvSpPr>
          <p:cNvPr id="238" name="Google Shape;238;p21"/>
          <p:cNvSpPr/>
          <p:nvPr/>
        </p:nvSpPr>
        <p:spPr>
          <a:xfrm>
            <a:off x="1994178" y="6075521"/>
            <a:ext cx="1575078" cy="173593"/>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Spazio di Indirizzamento</a:t>
            </a:r>
            <a:endParaRPr b="0" i="0" sz="1050" u="none" cap="none" strike="noStrike"/>
          </a:p>
        </p:txBody>
      </p:sp>
      <p:sp>
        <p:nvSpPr>
          <p:cNvPr id="239" name="Google Shape;239;p21"/>
          <p:cNvSpPr/>
          <p:nvPr/>
        </p:nvSpPr>
        <p:spPr>
          <a:xfrm>
            <a:off x="598408" y="6315789"/>
            <a:ext cx="4366736" cy="177879"/>
          </a:xfrm>
          <a:prstGeom prst="rect">
            <a:avLst/>
          </a:prstGeom>
          <a:noFill/>
          <a:ln>
            <a:noFill/>
          </a:ln>
        </p:spPr>
        <p:txBody>
          <a:bodyPr anchorCtr="0" anchor="t" bIns="0" lIns="0" spcFirstLastPara="1" rIns="0" wrap="square" tIns="0">
            <a:noAutofit/>
          </a:bodyPr>
          <a:lstStyle/>
          <a:p>
            <a:pPr indent="0" lvl="0" marL="0" marR="0" rtl="0" algn="ctr">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Capacità totale di memoria accessibile</a:t>
            </a:r>
            <a:endParaRPr b="0" i="0" sz="850" u="none" cap="none" strike="noStrike"/>
          </a:p>
        </p:txBody>
      </p:sp>
      <p:sp>
        <p:nvSpPr>
          <p:cNvPr id="240" name="Google Shape;240;p21"/>
          <p:cNvSpPr/>
          <p:nvPr/>
        </p:nvSpPr>
        <p:spPr>
          <a:xfrm>
            <a:off x="5131832" y="5569982"/>
            <a:ext cx="4366736" cy="3667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4D4D1"/>
              </a:buClr>
              <a:buSzPts val="2850"/>
              <a:buFont typeface="IBM Plex Sans"/>
              <a:buNone/>
            </a:pPr>
            <a:r>
              <a:rPr b="0" i="0" lang="en-US" sz="2850" u="none" cap="none" strike="noStrike">
                <a:solidFill>
                  <a:srgbClr val="D4D4D1"/>
                </a:solidFill>
                <a:latin typeface="IBM Plex Sans"/>
                <a:ea typeface="IBM Plex Sans"/>
                <a:cs typeface="IBM Plex Sans"/>
                <a:sym typeface="IBM Plex Sans"/>
              </a:rPr>
              <a:t>64 KB</a:t>
            </a:r>
            <a:endParaRPr b="0" i="0" sz="2850" u="none" cap="none" strike="noStrike"/>
          </a:p>
        </p:txBody>
      </p:sp>
      <p:sp>
        <p:nvSpPr>
          <p:cNvPr id="241" name="Google Shape;241;p21"/>
          <p:cNvSpPr/>
          <p:nvPr/>
        </p:nvSpPr>
        <p:spPr>
          <a:xfrm>
            <a:off x="6601063" y="6075521"/>
            <a:ext cx="1428274" cy="173593"/>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Dimensione Segmento</a:t>
            </a:r>
            <a:endParaRPr b="0" i="0" sz="1050" u="none" cap="none" strike="noStrike"/>
          </a:p>
        </p:txBody>
      </p:sp>
      <p:sp>
        <p:nvSpPr>
          <p:cNvPr id="242" name="Google Shape;242;p21"/>
          <p:cNvSpPr/>
          <p:nvPr/>
        </p:nvSpPr>
        <p:spPr>
          <a:xfrm>
            <a:off x="5131832" y="6315789"/>
            <a:ext cx="4366736" cy="177879"/>
          </a:xfrm>
          <a:prstGeom prst="rect">
            <a:avLst/>
          </a:prstGeom>
          <a:noFill/>
          <a:ln>
            <a:noFill/>
          </a:ln>
        </p:spPr>
        <p:txBody>
          <a:bodyPr anchorCtr="0" anchor="t" bIns="0" lIns="0" spcFirstLastPara="1" rIns="0" wrap="square" tIns="0">
            <a:noAutofit/>
          </a:bodyPr>
          <a:lstStyle/>
          <a:p>
            <a:pPr indent="0" lvl="0" marL="0" marR="0" rtl="0" algn="ctr">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Ampiezza di ciascuna finestra di memoria</a:t>
            </a:r>
            <a:endParaRPr b="0" i="0" sz="850" u="none" cap="none" strike="noStrike"/>
          </a:p>
        </p:txBody>
      </p:sp>
      <p:sp>
        <p:nvSpPr>
          <p:cNvPr id="243" name="Google Shape;243;p21"/>
          <p:cNvSpPr/>
          <p:nvPr/>
        </p:nvSpPr>
        <p:spPr>
          <a:xfrm>
            <a:off x="9665256" y="5569982"/>
            <a:ext cx="4366736" cy="3667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4D4D1"/>
              </a:buClr>
              <a:buSzPts val="2850"/>
              <a:buFont typeface="IBM Plex Sans"/>
              <a:buNone/>
            </a:pPr>
            <a:r>
              <a:rPr b="0" i="0" lang="en-US" sz="2850" u="none" cap="none" strike="noStrike">
                <a:solidFill>
                  <a:srgbClr val="D4D4D1"/>
                </a:solidFill>
                <a:latin typeface="IBM Plex Sans"/>
                <a:ea typeface="IBM Plex Sans"/>
                <a:cs typeface="IBM Plex Sans"/>
                <a:sym typeface="IBM Plex Sans"/>
              </a:rPr>
              <a:t>4</a:t>
            </a:r>
            <a:endParaRPr b="0" i="0" sz="2850" u="none" cap="none" strike="noStrike"/>
          </a:p>
        </p:txBody>
      </p:sp>
      <p:sp>
        <p:nvSpPr>
          <p:cNvPr id="244" name="Google Shape;244;p21"/>
          <p:cNvSpPr/>
          <p:nvPr/>
        </p:nvSpPr>
        <p:spPr>
          <a:xfrm>
            <a:off x="11154013" y="6075521"/>
            <a:ext cx="1389221" cy="173593"/>
          </a:xfrm>
          <a:prstGeom prst="rect">
            <a:avLst/>
          </a:prstGeom>
          <a:noFill/>
          <a:ln>
            <a:noFill/>
          </a:ln>
        </p:spPr>
        <p:txBody>
          <a:bodyPr anchorCtr="0" anchor="t" bIns="0" lIns="0" spcFirstLastPara="1" rIns="0" wrap="square" tIns="0">
            <a:noAutofit/>
          </a:bodyPr>
          <a:lstStyle/>
          <a:p>
            <a:pPr indent="0" lvl="0" marL="0" marR="0" rtl="0" algn="ctr">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Registri di Segmento</a:t>
            </a:r>
            <a:endParaRPr b="0" i="0" sz="1050" u="none" cap="none" strike="noStrike"/>
          </a:p>
        </p:txBody>
      </p:sp>
      <p:sp>
        <p:nvSpPr>
          <p:cNvPr id="245" name="Google Shape;245;p21"/>
          <p:cNvSpPr/>
          <p:nvPr/>
        </p:nvSpPr>
        <p:spPr>
          <a:xfrm>
            <a:off x="9665256" y="6315789"/>
            <a:ext cx="4366736" cy="177879"/>
          </a:xfrm>
          <a:prstGeom prst="rect">
            <a:avLst/>
          </a:prstGeom>
          <a:noFill/>
          <a:ln>
            <a:noFill/>
          </a:ln>
        </p:spPr>
        <p:txBody>
          <a:bodyPr anchorCtr="0" anchor="t" bIns="0" lIns="0" spcFirstLastPara="1" rIns="0" wrap="square" tIns="0">
            <a:noAutofit/>
          </a:bodyPr>
          <a:lstStyle/>
          <a:p>
            <a:pPr indent="0" lvl="0" marL="0" marR="0" rtl="0" algn="ctr">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CS, DS, SS, ES per diversi dati</a:t>
            </a:r>
            <a:endParaRPr b="0" i="0" sz="850" u="none" cap="none" strike="noStrike"/>
          </a:p>
        </p:txBody>
      </p:sp>
      <p:pic>
        <p:nvPicPr>
          <p:cNvPr descr="preencoded.png" id="246" name="Google Shape;246;p21"/>
          <p:cNvPicPr preferRelativeResize="0"/>
          <p:nvPr/>
        </p:nvPicPr>
        <p:blipFill rotWithShape="1">
          <a:blip r:embed="rId9">
            <a:alphaModFix/>
          </a:blip>
          <a:srcRect b="0" l="0" r="0" t="0"/>
          <a:stretch/>
        </p:blipFill>
        <p:spPr>
          <a:xfrm>
            <a:off x="598408" y="6618684"/>
            <a:ext cx="3358396" cy="444579"/>
          </a:xfrm>
          <a:prstGeom prst="rect">
            <a:avLst/>
          </a:prstGeom>
          <a:noFill/>
          <a:ln>
            <a:noFill/>
          </a:ln>
        </p:spPr>
      </p:pic>
      <p:sp>
        <p:nvSpPr>
          <p:cNvPr id="247" name="Google Shape;247;p21"/>
          <p:cNvSpPr/>
          <p:nvPr/>
        </p:nvSpPr>
        <p:spPr>
          <a:xfrm>
            <a:off x="709493" y="7229951"/>
            <a:ext cx="1389221" cy="173593"/>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Registro di Segmento</a:t>
            </a:r>
            <a:endParaRPr b="0" i="0" sz="1050" u="none" cap="none" strike="noStrike"/>
          </a:p>
        </p:txBody>
      </p:sp>
      <p:sp>
        <p:nvSpPr>
          <p:cNvPr id="248" name="Google Shape;248;p21"/>
          <p:cNvSpPr/>
          <p:nvPr/>
        </p:nvSpPr>
        <p:spPr>
          <a:xfrm>
            <a:off x="709493" y="7470219"/>
            <a:ext cx="3136225"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16 bit che identificano l'inizio del segmento</a:t>
            </a:r>
            <a:endParaRPr b="0" i="0" sz="850" u="none" cap="none" strike="noStrike"/>
          </a:p>
        </p:txBody>
      </p:sp>
      <p:pic>
        <p:nvPicPr>
          <p:cNvPr descr="preencoded.png" id="249" name="Google Shape;249;p21"/>
          <p:cNvPicPr preferRelativeResize="0"/>
          <p:nvPr/>
        </p:nvPicPr>
        <p:blipFill rotWithShape="1">
          <a:blip r:embed="rId10">
            <a:alphaModFix/>
          </a:blip>
          <a:srcRect b="0" l="0" r="0" t="0"/>
          <a:stretch/>
        </p:blipFill>
        <p:spPr>
          <a:xfrm>
            <a:off x="3956804" y="6618684"/>
            <a:ext cx="3358396" cy="444579"/>
          </a:xfrm>
          <a:prstGeom prst="rect">
            <a:avLst/>
          </a:prstGeom>
          <a:noFill/>
          <a:ln>
            <a:noFill/>
          </a:ln>
        </p:spPr>
      </p:pic>
      <p:sp>
        <p:nvSpPr>
          <p:cNvPr id="250" name="Google Shape;250;p21"/>
          <p:cNvSpPr/>
          <p:nvPr/>
        </p:nvSpPr>
        <p:spPr>
          <a:xfrm>
            <a:off x="4067889" y="7229951"/>
            <a:ext cx="1407438" cy="173593"/>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Moltiplicazione per 16</a:t>
            </a:r>
            <a:endParaRPr b="0" i="0" sz="1050" u="none" cap="none" strike="noStrike"/>
          </a:p>
        </p:txBody>
      </p:sp>
      <p:sp>
        <p:nvSpPr>
          <p:cNvPr id="251" name="Google Shape;251;p21"/>
          <p:cNvSpPr/>
          <p:nvPr/>
        </p:nvSpPr>
        <p:spPr>
          <a:xfrm>
            <a:off x="4067889" y="7470219"/>
            <a:ext cx="3136225"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Shift a sinistra di 4 bit</a:t>
            </a:r>
            <a:endParaRPr b="0" i="0" sz="850" u="none" cap="none" strike="noStrike"/>
          </a:p>
        </p:txBody>
      </p:sp>
      <p:pic>
        <p:nvPicPr>
          <p:cNvPr descr="preencoded.png" id="252" name="Google Shape;252;p21"/>
          <p:cNvPicPr preferRelativeResize="0"/>
          <p:nvPr/>
        </p:nvPicPr>
        <p:blipFill rotWithShape="1">
          <a:blip r:embed="rId11">
            <a:alphaModFix/>
          </a:blip>
          <a:srcRect b="0" l="0" r="0" t="0"/>
          <a:stretch/>
        </p:blipFill>
        <p:spPr>
          <a:xfrm>
            <a:off x="7315200" y="6618684"/>
            <a:ext cx="3358396" cy="444579"/>
          </a:xfrm>
          <a:prstGeom prst="rect">
            <a:avLst/>
          </a:prstGeom>
          <a:noFill/>
          <a:ln>
            <a:noFill/>
          </a:ln>
        </p:spPr>
      </p:pic>
      <p:sp>
        <p:nvSpPr>
          <p:cNvPr id="253" name="Google Shape;253;p21"/>
          <p:cNvSpPr/>
          <p:nvPr/>
        </p:nvSpPr>
        <p:spPr>
          <a:xfrm>
            <a:off x="7426285" y="7229951"/>
            <a:ext cx="1389221" cy="173593"/>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Aggiunta Offset</a:t>
            </a:r>
            <a:endParaRPr b="0" i="0" sz="1050" u="none" cap="none" strike="noStrike"/>
          </a:p>
        </p:txBody>
      </p:sp>
      <p:sp>
        <p:nvSpPr>
          <p:cNvPr id="254" name="Google Shape;254;p21"/>
          <p:cNvSpPr/>
          <p:nvPr/>
        </p:nvSpPr>
        <p:spPr>
          <a:xfrm>
            <a:off x="7426285" y="7470219"/>
            <a:ext cx="3136225"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16 bit che specificano lo spostamento nel segmento</a:t>
            </a:r>
            <a:endParaRPr b="0" i="0" sz="850" u="none" cap="none" strike="noStrike"/>
          </a:p>
        </p:txBody>
      </p:sp>
      <p:pic>
        <p:nvPicPr>
          <p:cNvPr descr="preencoded.png" id="255" name="Google Shape;255;p21"/>
          <p:cNvPicPr preferRelativeResize="0"/>
          <p:nvPr/>
        </p:nvPicPr>
        <p:blipFill rotWithShape="1">
          <a:blip r:embed="rId12">
            <a:alphaModFix/>
          </a:blip>
          <a:srcRect b="0" l="0" r="0" t="0"/>
          <a:stretch/>
        </p:blipFill>
        <p:spPr>
          <a:xfrm>
            <a:off x="10673596" y="6618684"/>
            <a:ext cx="3358396" cy="444579"/>
          </a:xfrm>
          <a:prstGeom prst="rect">
            <a:avLst/>
          </a:prstGeom>
          <a:noFill/>
          <a:ln>
            <a:noFill/>
          </a:ln>
        </p:spPr>
      </p:pic>
      <p:sp>
        <p:nvSpPr>
          <p:cNvPr id="256" name="Google Shape;256;p21"/>
          <p:cNvSpPr/>
          <p:nvPr/>
        </p:nvSpPr>
        <p:spPr>
          <a:xfrm>
            <a:off x="10784681" y="7229951"/>
            <a:ext cx="1389221" cy="173593"/>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D4D4D1"/>
              </a:buClr>
              <a:buSzPts val="1050"/>
              <a:buFont typeface="IBM Plex Sans"/>
              <a:buNone/>
            </a:pPr>
            <a:r>
              <a:rPr b="0" i="0" lang="en-US" sz="1050" u="none" cap="none" strike="noStrike">
                <a:solidFill>
                  <a:srgbClr val="D4D4D1"/>
                </a:solidFill>
                <a:latin typeface="IBM Plex Sans"/>
                <a:ea typeface="IBM Plex Sans"/>
                <a:cs typeface="IBM Plex Sans"/>
                <a:sym typeface="IBM Plex Sans"/>
              </a:rPr>
              <a:t>Indirizzo Fisico</a:t>
            </a:r>
            <a:endParaRPr b="0" i="0" sz="1050" u="none" cap="none" strike="noStrike"/>
          </a:p>
        </p:txBody>
      </p:sp>
      <p:sp>
        <p:nvSpPr>
          <p:cNvPr id="257" name="Google Shape;257;p21"/>
          <p:cNvSpPr/>
          <p:nvPr/>
        </p:nvSpPr>
        <p:spPr>
          <a:xfrm>
            <a:off x="10784681" y="7470219"/>
            <a:ext cx="3136225" cy="177879"/>
          </a:xfrm>
          <a:prstGeom prst="rect">
            <a:avLst/>
          </a:prstGeom>
          <a:noFill/>
          <a:ln>
            <a:noFill/>
          </a:ln>
        </p:spPr>
        <p:txBody>
          <a:bodyPr anchorCtr="0" anchor="t" bIns="0" lIns="0" spcFirstLastPara="1" rIns="0" wrap="square" tIns="0">
            <a:noAutofit/>
          </a:bodyPr>
          <a:lstStyle/>
          <a:p>
            <a:pPr indent="0" lvl="0" marL="0" marR="0" rtl="0" algn="l">
              <a:lnSpc>
                <a:spcPct val="164705"/>
              </a:lnSpc>
              <a:spcBef>
                <a:spcPts val="0"/>
              </a:spcBef>
              <a:spcAft>
                <a:spcPts val="0"/>
              </a:spcAft>
              <a:buClr>
                <a:srgbClr val="D4D4D1"/>
              </a:buClr>
              <a:buSzPts val="850"/>
              <a:buFont typeface="Roboto"/>
              <a:buNone/>
            </a:pPr>
            <a:r>
              <a:rPr b="0" i="0" lang="en-US" sz="850" u="none" cap="none" strike="noStrike">
                <a:solidFill>
                  <a:srgbClr val="D4D4D1"/>
                </a:solidFill>
                <a:latin typeface="Roboto"/>
                <a:ea typeface="Roboto"/>
                <a:cs typeface="Roboto"/>
                <a:sym typeface="Roboto"/>
              </a:rPr>
              <a:t>20 bit che identificano la posizione esatta</a:t>
            </a:r>
            <a:endParaRPr b="0" i="0" sz="850" u="none" cap="none" strike="noStrike"/>
          </a:p>
        </p:txBody>
      </p:sp>
      <p:pic>
        <p:nvPicPr>
          <p:cNvPr id="258" name="Google Shape;258;p21"/>
          <p:cNvPicPr preferRelativeResize="0"/>
          <p:nvPr/>
        </p:nvPicPr>
        <p:blipFill>
          <a:blip r:embed="rId13">
            <a:alphaModFix/>
          </a:blip>
          <a:stretch>
            <a:fillRect/>
          </a:stretch>
        </p:blipFill>
        <p:spPr>
          <a:xfrm>
            <a:off x="12543225" y="7745250"/>
            <a:ext cx="2030375" cy="444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descr="preencoded.png" id="264" name="Google Shape;264;p2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65" name="Google Shape;265;p22"/>
          <p:cNvSpPr/>
          <p:nvPr/>
        </p:nvSpPr>
        <p:spPr>
          <a:xfrm>
            <a:off x="6280190" y="841177"/>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3F3F2"/>
              </a:buClr>
              <a:buSzPts val="3550"/>
              <a:buFont typeface="IBM Plex Sans"/>
              <a:buNone/>
            </a:pPr>
            <a:r>
              <a:rPr b="0" i="0" lang="en-US" sz="3550" u="none" cap="none" strike="noStrike">
                <a:solidFill>
                  <a:srgbClr val="F3F3F2"/>
                </a:solidFill>
                <a:latin typeface="IBM Plex Sans"/>
                <a:ea typeface="IBM Plex Sans"/>
                <a:cs typeface="IBM Plex Sans"/>
                <a:sym typeface="IBM Plex Sans"/>
              </a:rPr>
              <a:t>Pipeline e Prefetch</a:t>
            </a:r>
            <a:endParaRPr b="0" i="0" sz="3550" u="none" cap="none" strike="noStrike"/>
          </a:p>
        </p:txBody>
      </p:sp>
      <p:sp>
        <p:nvSpPr>
          <p:cNvPr id="266" name="Google Shape;266;p22"/>
          <p:cNvSpPr/>
          <p:nvPr/>
        </p:nvSpPr>
        <p:spPr>
          <a:xfrm>
            <a:off x="6280190" y="1680329"/>
            <a:ext cx="7556421" cy="87082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Il sistema pipeline dell'8086 è uno dei primi modi per far lavorare più istruzioni insieme nello stesso tempo. La pipeline divide il lavoro di un'istruzione in fasi, così più istruzioni possono essere processate contemporaneamente.</a:t>
            </a:r>
            <a:endParaRPr b="0" i="0" sz="1400" u="none" cap="none" strike="noStrike"/>
          </a:p>
        </p:txBody>
      </p:sp>
      <p:sp>
        <p:nvSpPr>
          <p:cNvPr id="267" name="Google Shape;267;p22"/>
          <p:cNvSpPr/>
          <p:nvPr/>
        </p:nvSpPr>
        <p:spPr>
          <a:xfrm>
            <a:off x="6280190" y="2959298"/>
            <a:ext cx="7556421" cy="22860"/>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
          <p:cNvSpPr/>
          <p:nvPr/>
        </p:nvSpPr>
        <p:spPr>
          <a:xfrm>
            <a:off x="7452360" y="2959239"/>
            <a:ext cx="22860" cy="544354"/>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2"/>
          <p:cNvSpPr/>
          <p:nvPr/>
        </p:nvSpPr>
        <p:spPr>
          <a:xfrm>
            <a:off x="7259717" y="2755166"/>
            <a:ext cx="408265" cy="408265"/>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0" name="Google Shape;270;p22"/>
          <p:cNvPicPr preferRelativeResize="0"/>
          <p:nvPr/>
        </p:nvPicPr>
        <p:blipFill rotWithShape="1">
          <a:blip r:embed="rId4">
            <a:alphaModFix/>
          </a:blip>
          <a:srcRect b="0" l="0" r="0" t="0"/>
          <a:stretch/>
        </p:blipFill>
        <p:spPr>
          <a:xfrm>
            <a:off x="7327702" y="2789158"/>
            <a:ext cx="272177" cy="340162"/>
          </a:xfrm>
          <a:prstGeom prst="rect">
            <a:avLst/>
          </a:prstGeom>
          <a:noFill/>
          <a:ln>
            <a:noFill/>
          </a:ln>
        </p:spPr>
      </p:pic>
      <p:sp>
        <p:nvSpPr>
          <p:cNvPr id="271" name="Google Shape;271;p22"/>
          <p:cNvSpPr/>
          <p:nvPr/>
        </p:nvSpPr>
        <p:spPr>
          <a:xfrm>
            <a:off x="6461641" y="3685103"/>
            <a:ext cx="2004655" cy="283488"/>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D4D4D1"/>
              </a:buClr>
              <a:buSzPts val="1750"/>
              <a:buFont typeface="IBM Plex Sans"/>
              <a:buNone/>
            </a:pPr>
            <a:r>
              <a:rPr b="0" i="0" lang="en-US" sz="1750" u="none" cap="none" strike="noStrike">
                <a:solidFill>
                  <a:srgbClr val="D4D4D1"/>
                </a:solidFill>
                <a:latin typeface="IBM Plex Sans"/>
                <a:ea typeface="IBM Plex Sans"/>
                <a:cs typeface="IBM Plex Sans"/>
                <a:sym typeface="IBM Plex Sans"/>
              </a:rPr>
              <a:t>Prelievo</a:t>
            </a:r>
            <a:endParaRPr b="0" i="0" sz="1750" u="none" cap="none" strike="noStrike"/>
          </a:p>
        </p:txBody>
      </p:sp>
      <p:sp>
        <p:nvSpPr>
          <p:cNvPr id="272" name="Google Shape;272;p22"/>
          <p:cNvSpPr/>
          <p:nvPr/>
        </p:nvSpPr>
        <p:spPr>
          <a:xfrm>
            <a:off x="6461641" y="4077414"/>
            <a:ext cx="2004655" cy="1451372"/>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La Bus Interface Unit (BIU) prende le istruzioni dalla memoria e le mette in una coda chiamata prefetch.</a:t>
            </a:r>
            <a:endParaRPr b="0" i="0" sz="1400" u="none" cap="none" strike="noStrike"/>
          </a:p>
        </p:txBody>
      </p:sp>
      <p:sp>
        <p:nvSpPr>
          <p:cNvPr id="273" name="Google Shape;273;p22"/>
          <p:cNvSpPr/>
          <p:nvPr/>
        </p:nvSpPr>
        <p:spPr>
          <a:xfrm>
            <a:off x="10046732" y="2959239"/>
            <a:ext cx="22860" cy="544354"/>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2"/>
          <p:cNvSpPr/>
          <p:nvPr/>
        </p:nvSpPr>
        <p:spPr>
          <a:xfrm>
            <a:off x="9854089" y="2755166"/>
            <a:ext cx="408265" cy="408265"/>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5" name="Google Shape;275;p22"/>
          <p:cNvPicPr preferRelativeResize="0"/>
          <p:nvPr/>
        </p:nvPicPr>
        <p:blipFill rotWithShape="1">
          <a:blip r:embed="rId5">
            <a:alphaModFix/>
          </a:blip>
          <a:srcRect b="0" l="0" r="0" t="0"/>
          <a:stretch/>
        </p:blipFill>
        <p:spPr>
          <a:xfrm>
            <a:off x="9922073" y="2789158"/>
            <a:ext cx="272177" cy="340162"/>
          </a:xfrm>
          <a:prstGeom prst="rect">
            <a:avLst/>
          </a:prstGeom>
          <a:noFill/>
          <a:ln>
            <a:noFill/>
          </a:ln>
        </p:spPr>
      </p:pic>
      <p:sp>
        <p:nvSpPr>
          <p:cNvPr id="276" name="Google Shape;276;p22"/>
          <p:cNvSpPr/>
          <p:nvPr/>
        </p:nvSpPr>
        <p:spPr>
          <a:xfrm>
            <a:off x="9056013" y="3685103"/>
            <a:ext cx="2004655" cy="283488"/>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D4D4D1"/>
              </a:buClr>
              <a:buSzPts val="1750"/>
              <a:buFont typeface="IBM Plex Sans"/>
              <a:buNone/>
            </a:pPr>
            <a:r>
              <a:rPr b="0" i="0" lang="en-US" sz="1750" u="none" cap="none" strike="noStrike">
                <a:solidFill>
                  <a:srgbClr val="D4D4D1"/>
                </a:solidFill>
                <a:latin typeface="IBM Plex Sans"/>
                <a:ea typeface="IBM Plex Sans"/>
                <a:cs typeface="IBM Plex Sans"/>
                <a:sym typeface="IBM Plex Sans"/>
              </a:rPr>
              <a:t>Esecuzione</a:t>
            </a:r>
            <a:endParaRPr b="0" i="0" sz="1750" u="none" cap="none" strike="noStrike"/>
          </a:p>
        </p:txBody>
      </p:sp>
      <p:sp>
        <p:nvSpPr>
          <p:cNvPr id="277" name="Google Shape;277;p22"/>
          <p:cNvSpPr/>
          <p:nvPr/>
        </p:nvSpPr>
        <p:spPr>
          <a:xfrm>
            <a:off x="9056013" y="4077414"/>
            <a:ext cx="2004655" cy="1161098"/>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Mentre la BIU continua a prendere istruzioni, l'Execution Unit (EU) esegue quelle già prese.</a:t>
            </a:r>
            <a:endParaRPr b="0" i="0" sz="1400" u="none" cap="none" strike="noStrike"/>
          </a:p>
        </p:txBody>
      </p:sp>
      <p:sp>
        <p:nvSpPr>
          <p:cNvPr id="278" name="Google Shape;278;p22"/>
          <p:cNvSpPr/>
          <p:nvPr/>
        </p:nvSpPr>
        <p:spPr>
          <a:xfrm>
            <a:off x="12641223" y="2959239"/>
            <a:ext cx="22860" cy="544354"/>
          </a:xfrm>
          <a:prstGeom prst="roundRect">
            <a:avLst>
              <a:gd fmla="val 119070"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2"/>
          <p:cNvSpPr/>
          <p:nvPr/>
        </p:nvSpPr>
        <p:spPr>
          <a:xfrm>
            <a:off x="12448580" y="2755166"/>
            <a:ext cx="408265" cy="408265"/>
          </a:xfrm>
          <a:prstGeom prst="roundRect">
            <a:avLst>
              <a:gd fmla="val 6667"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0" name="Google Shape;280;p22"/>
          <p:cNvPicPr preferRelativeResize="0"/>
          <p:nvPr/>
        </p:nvPicPr>
        <p:blipFill rotWithShape="1">
          <a:blip r:embed="rId6">
            <a:alphaModFix/>
          </a:blip>
          <a:srcRect b="0" l="0" r="0" t="0"/>
          <a:stretch/>
        </p:blipFill>
        <p:spPr>
          <a:xfrm>
            <a:off x="12516564" y="2789158"/>
            <a:ext cx="272177" cy="340162"/>
          </a:xfrm>
          <a:prstGeom prst="rect">
            <a:avLst/>
          </a:prstGeom>
          <a:noFill/>
          <a:ln>
            <a:noFill/>
          </a:ln>
        </p:spPr>
      </p:pic>
      <p:sp>
        <p:nvSpPr>
          <p:cNvPr id="281" name="Google Shape;281;p22"/>
          <p:cNvSpPr/>
          <p:nvPr/>
        </p:nvSpPr>
        <p:spPr>
          <a:xfrm>
            <a:off x="11650385" y="3685103"/>
            <a:ext cx="2004774" cy="283488"/>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D4D4D1"/>
              </a:buClr>
              <a:buSzPts val="1750"/>
              <a:buFont typeface="IBM Plex Sans"/>
              <a:buNone/>
            </a:pPr>
            <a:r>
              <a:rPr b="0" i="0" lang="en-US" sz="1750" u="none" cap="none" strike="noStrike">
                <a:solidFill>
                  <a:srgbClr val="D4D4D1"/>
                </a:solidFill>
                <a:latin typeface="IBM Plex Sans"/>
                <a:ea typeface="IBM Plex Sans"/>
                <a:cs typeface="IBM Plex Sans"/>
                <a:sym typeface="IBM Plex Sans"/>
              </a:rPr>
              <a:t>Pipeline semplice</a:t>
            </a:r>
            <a:endParaRPr b="0" i="0" sz="1750" u="none" cap="none" strike="noStrike"/>
          </a:p>
        </p:txBody>
      </p:sp>
      <p:sp>
        <p:nvSpPr>
          <p:cNvPr id="282" name="Google Shape;282;p22"/>
          <p:cNvSpPr/>
          <p:nvPr/>
        </p:nvSpPr>
        <p:spPr>
          <a:xfrm>
            <a:off x="11650385" y="4077414"/>
            <a:ext cx="2004774" cy="1161098"/>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Questa prima versione di pipeline ha preparato la strada per processori più avanzati in futuro.</a:t>
            </a:r>
            <a:endParaRPr b="0" i="0" sz="1400" u="none" cap="none" strike="noStrike"/>
          </a:p>
        </p:txBody>
      </p:sp>
      <p:sp>
        <p:nvSpPr>
          <p:cNvPr id="283" name="Google Shape;283;p22"/>
          <p:cNvSpPr/>
          <p:nvPr/>
        </p:nvSpPr>
        <p:spPr>
          <a:xfrm>
            <a:off x="6280190" y="5732859"/>
            <a:ext cx="7556421" cy="87082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Il prefetch queue permette alla BIU di prendere istruzioni in anticipo dalla memoria mentre l'EU esegue altre istruzioni. Questo rende il processore più veloce, riducendo i tempi di attesa per la memoria.</a:t>
            </a:r>
            <a:endParaRPr b="0" i="0" sz="1400" u="none" cap="none" strike="noStrike"/>
          </a:p>
        </p:txBody>
      </p:sp>
      <p:sp>
        <p:nvSpPr>
          <p:cNvPr id="284" name="Google Shape;284;p22"/>
          <p:cNvSpPr/>
          <p:nvPr/>
        </p:nvSpPr>
        <p:spPr>
          <a:xfrm>
            <a:off x="6280190" y="6807756"/>
            <a:ext cx="7556421" cy="58054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D4D4D1"/>
              </a:buClr>
              <a:buSzPts val="1400"/>
              <a:buFont typeface="Roboto"/>
              <a:buNone/>
            </a:pPr>
            <a:r>
              <a:rPr b="0" i="0" lang="en-US" sz="1400" u="none" cap="none" strike="noStrike">
                <a:solidFill>
                  <a:srgbClr val="D4D4D1"/>
                </a:solidFill>
                <a:latin typeface="Roboto"/>
                <a:ea typeface="Roboto"/>
                <a:cs typeface="Roboto"/>
                <a:sym typeface="Roboto"/>
              </a:rPr>
              <a:t>Però, la coda deve essere svuotata e riempita di nuovo durante i salti nel codice, il che rallenta temporaneamente il processore.</a:t>
            </a:r>
            <a:endParaRPr b="0" i="0" sz="1400" u="none" cap="none" strike="noStrike"/>
          </a:p>
        </p:txBody>
      </p:sp>
      <p:pic>
        <p:nvPicPr>
          <p:cNvPr id="285" name="Google Shape;285;p22"/>
          <p:cNvPicPr preferRelativeResize="0"/>
          <p:nvPr/>
        </p:nvPicPr>
        <p:blipFill>
          <a:blip r:embed="rId7">
            <a:alphaModFix/>
          </a:blip>
          <a:stretch>
            <a:fillRect/>
          </a:stretch>
        </p:blipFill>
        <p:spPr>
          <a:xfrm>
            <a:off x="12516575" y="7662625"/>
            <a:ext cx="2113825" cy="566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3"/>
          <p:cNvSpPr/>
          <p:nvPr/>
        </p:nvSpPr>
        <p:spPr>
          <a:xfrm>
            <a:off x="785813" y="617458"/>
            <a:ext cx="6102668" cy="666512"/>
          </a:xfrm>
          <a:prstGeom prst="rect">
            <a:avLst/>
          </a:prstGeom>
          <a:noFill/>
          <a:ln>
            <a:noFill/>
          </a:ln>
        </p:spPr>
        <p:txBody>
          <a:bodyPr anchorCtr="0" anchor="t" bIns="0" lIns="0" spcFirstLastPara="1" rIns="0" wrap="square" tIns="0">
            <a:noAutofit/>
          </a:bodyPr>
          <a:lstStyle/>
          <a:p>
            <a:pPr indent="0" lvl="0" marL="0" marR="0" rtl="0" algn="l">
              <a:lnSpc>
                <a:spcPct val="125301"/>
              </a:lnSpc>
              <a:spcBef>
                <a:spcPts val="0"/>
              </a:spcBef>
              <a:spcAft>
                <a:spcPts val="0"/>
              </a:spcAft>
              <a:buClr>
                <a:srgbClr val="F3F3F2"/>
              </a:buClr>
              <a:buSzPts val="4150"/>
              <a:buFont typeface="IBM Plex Sans"/>
              <a:buNone/>
            </a:pPr>
            <a:r>
              <a:rPr b="0" i="0" lang="en-US" sz="4150" u="none" cap="none" strike="noStrike">
                <a:solidFill>
                  <a:srgbClr val="F3F3F2"/>
                </a:solidFill>
                <a:latin typeface="IBM Plex Sans"/>
                <a:ea typeface="IBM Plex Sans"/>
                <a:cs typeface="IBM Plex Sans"/>
                <a:sym typeface="IBM Plex Sans"/>
              </a:rPr>
              <a:t>Bus e Modalità Operative</a:t>
            </a:r>
            <a:endParaRPr b="0" i="0" sz="4150" u="none" cap="none" strike="noStrike"/>
          </a:p>
        </p:txBody>
      </p:sp>
      <p:sp>
        <p:nvSpPr>
          <p:cNvPr id="292" name="Google Shape;292;p23"/>
          <p:cNvSpPr/>
          <p:nvPr/>
        </p:nvSpPr>
        <p:spPr>
          <a:xfrm>
            <a:off x="785813" y="2231350"/>
            <a:ext cx="4038481" cy="666750"/>
          </a:xfrm>
          <a:prstGeom prst="rect">
            <a:avLst/>
          </a:prstGeom>
          <a:noFill/>
          <a:ln>
            <a:noFill/>
          </a:ln>
        </p:spPr>
        <p:txBody>
          <a:bodyPr anchorCtr="0" anchor="t" bIns="0" lIns="0" spcFirstLastPara="1" rIns="0" wrap="square" tIns="0">
            <a:noAutofit/>
          </a:bodyPr>
          <a:lstStyle/>
          <a:p>
            <a:pPr indent="0" lvl="0" marL="0" marR="0" rtl="0" algn="r">
              <a:lnSpc>
                <a:spcPct val="126829"/>
              </a:lnSpc>
              <a:spcBef>
                <a:spcPts val="0"/>
              </a:spcBef>
              <a:spcAft>
                <a:spcPts val="0"/>
              </a:spcAft>
              <a:buClr>
                <a:srgbClr val="D4D4D1"/>
              </a:buClr>
              <a:buSzPts val="2050"/>
              <a:buFont typeface="IBM Plex Sans"/>
              <a:buNone/>
            </a:pPr>
            <a:r>
              <a:rPr b="0" i="0" lang="en-US" sz="2050" u="none" cap="none" strike="noStrike">
                <a:solidFill>
                  <a:srgbClr val="D4D4D1"/>
                </a:solidFill>
                <a:latin typeface="IBM Plex Sans"/>
                <a:ea typeface="IBM Plex Sans"/>
                <a:cs typeface="IBM Plex Sans"/>
                <a:sym typeface="IBM Plex Sans"/>
              </a:rPr>
              <a:t>Bus dati a 16 bit, bus indirizzi a 20 bit</a:t>
            </a:r>
            <a:endParaRPr b="0" i="0" sz="2050" u="none" cap="none" strike="noStrike"/>
          </a:p>
        </p:txBody>
      </p:sp>
      <p:sp>
        <p:nvSpPr>
          <p:cNvPr id="293" name="Google Shape;293;p23"/>
          <p:cNvSpPr/>
          <p:nvPr/>
        </p:nvSpPr>
        <p:spPr>
          <a:xfrm>
            <a:off x="785813" y="3025973"/>
            <a:ext cx="4038481" cy="341352"/>
          </a:xfrm>
          <a:prstGeom prst="rect">
            <a:avLst/>
          </a:prstGeom>
          <a:noFill/>
          <a:ln>
            <a:noFill/>
          </a:ln>
        </p:spPr>
        <p:txBody>
          <a:bodyPr anchorCtr="0" anchor="t" bIns="0" lIns="0" spcFirstLastPara="1" rIns="0" wrap="square" tIns="0">
            <a:noAutofit/>
          </a:bodyPr>
          <a:lstStyle/>
          <a:p>
            <a:pPr indent="0" lvl="0" marL="0" marR="0" rtl="0" algn="r">
              <a:lnSpc>
                <a:spcPct val="16060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Architettura dei bus dell'8086</a:t>
            </a:r>
            <a:endParaRPr b="0" i="0" sz="1650" u="none" cap="none" strike="noStrike"/>
          </a:p>
        </p:txBody>
      </p:sp>
      <p:pic>
        <p:nvPicPr>
          <p:cNvPr descr="preencoded.png" id="294" name="Google Shape;294;p23"/>
          <p:cNvPicPr preferRelativeResize="0"/>
          <p:nvPr/>
        </p:nvPicPr>
        <p:blipFill rotWithShape="1">
          <a:blip r:embed="rId3">
            <a:alphaModFix/>
          </a:blip>
          <a:srcRect b="0" l="0" r="0" t="0"/>
          <a:stretch/>
        </p:blipFill>
        <p:spPr>
          <a:xfrm>
            <a:off x="5144214" y="1710571"/>
            <a:ext cx="4341971" cy="4341971"/>
          </a:xfrm>
          <a:prstGeom prst="rect">
            <a:avLst/>
          </a:prstGeom>
          <a:noFill/>
          <a:ln>
            <a:noFill/>
          </a:ln>
        </p:spPr>
      </p:pic>
      <p:pic>
        <p:nvPicPr>
          <p:cNvPr descr="preencoded.png" id="295" name="Google Shape;295;p23"/>
          <p:cNvPicPr preferRelativeResize="0"/>
          <p:nvPr/>
        </p:nvPicPr>
        <p:blipFill rotWithShape="1">
          <a:blip r:embed="rId4">
            <a:alphaModFix/>
          </a:blip>
          <a:srcRect b="0" l="0" r="0" t="0"/>
          <a:stretch/>
        </p:blipFill>
        <p:spPr>
          <a:xfrm>
            <a:off x="6281678" y="2438698"/>
            <a:ext cx="319088" cy="398859"/>
          </a:xfrm>
          <a:prstGeom prst="rect">
            <a:avLst/>
          </a:prstGeom>
          <a:noFill/>
          <a:ln>
            <a:noFill/>
          </a:ln>
        </p:spPr>
      </p:pic>
      <p:sp>
        <p:nvSpPr>
          <p:cNvPr id="296" name="Google Shape;296;p23"/>
          <p:cNvSpPr/>
          <p:nvPr/>
        </p:nvSpPr>
        <p:spPr>
          <a:xfrm>
            <a:off x="9806107" y="2398038"/>
            <a:ext cx="2666405" cy="333375"/>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D4D4D1"/>
              </a:buClr>
              <a:buSzPts val="2050"/>
              <a:buFont typeface="IBM Plex Sans"/>
              <a:buNone/>
            </a:pPr>
            <a:r>
              <a:rPr b="0" i="0" lang="en-US" sz="2050" u="none" cap="none" strike="noStrike">
                <a:solidFill>
                  <a:srgbClr val="D4D4D1"/>
                </a:solidFill>
                <a:latin typeface="IBM Plex Sans"/>
                <a:ea typeface="IBM Plex Sans"/>
                <a:cs typeface="IBM Plex Sans"/>
                <a:sym typeface="IBM Plex Sans"/>
              </a:rPr>
              <a:t>Bus multiplexato</a:t>
            </a:r>
            <a:endParaRPr b="0" i="0" sz="2050" u="none" cap="none" strike="noStrike"/>
          </a:p>
        </p:txBody>
      </p:sp>
      <p:sp>
        <p:nvSpPr>
          <p:cNvPr id="297" name="Google Shape;297;p23"/>
          <p:cNvSpPr/>
          <p:nvPr/>
        </p:nvSpPr>
        <p:spPr>
          <a:xfrm>
            <a:off x="9806107" y="2859286"/>
            <a:ext cx="4038481" cy="34135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Indirizzi e dati condividono i pin</a:t>
            </a:r>
            <a:endParaRPr b="0" i="0" sz="1650" u="none" cap="none" strike="noStrike"/>
          </a:p>
        </p:txBody>
      </p:sp>
      <p:pic>
        <p:nvPicPr>
          <p:cNvPr descr="preencoded.png" id="298" name="Google Shape;298;p23"/>
          <p:cNvPicPr preferRelativeResize="0"/>
          <p:nvPr/>
        </p:nvPicPr>
        <p:blipFill rotWithShape="1">
          <a:blip r:embed="rId5">
            <a:alphaModFix/>
          </a:blip>
          <a:srcRect b="0" l="0" r="0" t="0"/>
          <a:stretch/>
        </p:blipFill>
        <p:spPr>
          <a:xfrm>
            <a:off x="5144214" y="1710571"/>
            <a:ext cx="4341971" cy="4341971"/>
          </a:xfrm>
          <a:prstGeom prst="rect">
            <a:avLst/>
          </a:prstGeom>
          <a:noFill/>
          <a:ln>
            <a:noFill/>
          </a:ln>
        </p:spPr>
      </p:pic>
      <p:pic>
        <p:nvPicPr>
          <p:cNvPr descr="preencoded.png" id="299" name="Google Shape;299;p23"/>
          <p:cNvPicPr preferRelativeResize="0"/>
          <p:nvPr/>
        </p:nvPicPr>
        <p:blipFill rotWithShape="1">
          <a:blip r:embed="rId6">
            <a:alphaModFix/>
          </a:blip>
          <a:srcRect b="0" l="0" r="0" t="0"/>
          <a:stretch/>
        </p:blipFill>
        <p:spPr>
          <a:xfrm>
            <a:off x="8398847" y="2808149"/>
            <a:ext cx="319088" cy="398859"/>
          </a:xfrm>
          <a:prstGeom prst="rect">
            <a:avLst/>
          </a:prstGeom>
          <a:noFill/>
          <a:ln>
            <a:noFill/>
          </a:ln>
        </p:spPr>
      </p:pic>
      <p:sp>
        <p:nvSpPr>
          <p:cNvPr id="300" name="Google Shape;300;p23"/>
          <p:cNvSpPr/>
          <p:nvPr/>
        </p:nvSpPr>
        <p:spPr>
          <a:xfrm>
            <a:off x="9806107" y="4729043"/>
            <a:ext cx="2666405" cy="333375"/>
          </a:xfrm>
          <a:prstGeom prst="rect">
            <a:avLst/>
          </a:prstGeom>
          <a:noFill/>
          <a:ln>
            <a:noFill/>
          </a:ln>
        </p:spPr>
        <p:txBody>
          <a:bodyPr anchorCtr="0" anchor="t" bIns="0" lIns="0" spcFirstLastPara="1" rIns="0" wrap="square" tIns="0">
            <a:noAutofit/>
          </a:bodyPr>
          <a:lstStyle/>
          <a:p>
            <a:pPr indent="0" lvl="0" marL="0" marR="0" rtl="0" algn="l">
              <a:lnSpc>
                <a:spcPct val="126829"/>
              </a:lnSpc>
              <a:spcBef>
                <a:spcPts val="0"/>
              </a:spcBef>
              <a:spcAft>
                <a:spcPts val="0"/>
              </a:spcAft>
              <a:buClr>
                <a:srgbClr val="D4D4D1"/>
              </a:buClr>
              <a:buSzPts val="2050"/>
              <a:buFont typeface="IBM Plex Sans"/>
              <a:buNone/>
            </a:pPr>
            <a:r>
              <a:rPr b="0" i="0" lang="en-US" sz="2050" u="none" cap="none" strike="noStrike">
                <a:solidFill>
                  <a:srgbClr val="D4D4D1"/>
                </a:solidFill>
                <a:latin typeface="IBM Plex Sans"/>
                <a:ea typeface="IBM Plex Sans"/>
                <a:cs typeface="IBM Plex Sans"/>
                <a:sym typeface="IBM Plex Sans"/>
              </a:rPr>
              <a:t>Modalità minima</a:t>
            </a:r>
            <a:endParaRPr b="0" i="0" sz="2050" u="none" cap="none" strike="noStrike"/>
          </a:p>
        </p:txBody>
      </p:sp>
      <p:sp>
        <p:nvSpPr>
          <p:cNvPr id="301" name="Google Shape;301;p23"/>
          <p:cNvSpPr/>
          <p:nvPr/>
        </p:nvSpPr>
        <p:spPr>
          <a:xfrm>
            <a:off x="9806107" y="5190292"/>
            <a:ext cx="4038481" cy="34135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Configurazione per singolo processore</a:t>
            </a:r>
            <a:endParaRPr b="0" i="0" sz="1650" u="none" cap="none" strike="noStrike"/>
          </a:p>
        </p:txBody>
      </p:sp>
      <p:pic>
        <p:nvPicPr>
          <p:cNvPr descr="preencoded.png" id="302" name="Google Shape;302;p23"/>
          <p:cNvPicPr preferRelativeResize="0"/>
          <p:nvPr/>
        </p:nvPicPr>
        <p:blipFill rotWithShape="1">
          <a:blip r:embed="rId7">
            <a:alphaModFix/>
          </a:blip>
          <a:srcRect b="0" l="0" r="0" t="0"/>
          <a:stretch/>
        </p:blipFill>
        <p:spPr>
          <a:xfrm>
            <a:off x="5144214" y="1710571"/>
            <a:ext cx="4341971" cy="4341971"/>
          </a:xfrm>
          <a:prstGeom prst="rect">
            <a:avLst/>
          </a:prstGeom>
          <a:noFill/>
          <a:ln>
            <a:noFill/>
          </a:ln>
        </p:spPr>
      </p:pic>
      <p:pic>
        <p:nvPicPr>
          <p:cNvPr descr="preencoded.png" id="303" name="Google Shape;303;p23"/>
          <p:cNvPicPr preferRelativeResize="0"/>
          <p:nvPr/>
        </p:nvPicPr>
        <p:blipFill rotWithShape="1">
          <a:blip r:embed="rId8">
            <a:alphaModFix/>
          </a:blip>
          <a:srcRect b="0" l="0" r="0" t="0"/>
          <a:stretch/>
        </p:blipFill>
        <p:spPr>
          <a:xfrm>
            <a:off x="8029396" y="4925318"/>
            <a:ext cx="319088" cy="398859"/>
          </a:xfrm>
          <a:prstGeom prst="rect">
            <a:avLst/>
          </a:prstGeom>
          <a:noFill/>
          <a:ln>
            <a:noFill/>
          </a:ln>
        </p:spPr>
      </p:pic>
      <p:sp>
        <p:nvSpPr>
          <p:cNvPr id="304" name="Google Shape;304;p23"/>
          <p:cNvSpPr/>
          <p:nvPr/>
        </p:nvSpPr>
        <p:spPr>
          <a:xfrm>
            <a:off x="2157889" y="4729043"/>
            <a:ext cx="2666405" cy="333375"/>
          </a:xfrm>
          <a:prstGeom prst="rect">
            <a:avLst/>
          </a:prstGeom>
          <a:noFill/>
          <a:ln>
            <a:noFill/>
          </a:ln>
        </p:spPr>
        <p:txBody>
          <a:bodyPr anchorCtr="0" anchor="t" bIns="0" lIns="0" spcFirstLastPara="1" rIns="0" wrap="square" tIns="0">
            <a:noAutofit/>
          </a:bodyPr>
          <a:lstStyle/>
          <a:p>
            <a:pPr indent="0" lvl="0" marL="0" marR="0" rtl="0" algn="r">
              <a:lnSpc>
                <a:spcPct val="126829"/>
              </a:lnSpc>
              <a:spcBef>
                <a:spcPts val="0"/>
              </a:spcBef>
              <a:spcAft>
                <a:spcPts val="0"/>
              </a:spcAft>
              <a:buClr>
                <a:srgbClr val="D4D4D1"/>
              </a:buClr>
              <a:buSzPts val="2050"/>
              <a:buFont typeface="IBM Plex Sans"/>
              <a:buNone/>
            </a:pPr>
            <a:r>
              <a:rPr b="0" i="0" lang="en-US" sz="2050" u="none" cap="none" strike="noStrike">
                <a:solidFill>
                  <a:srgbClr val="D4D4D1"/>
                </a:solidFill>
                <a:latin typeface="IBM Plex Sans"/>
                <a:ea typeface="IBM Plex Sans"/>
                <a:cs typeface="IBM Plex Sans"/>
                <a:sym typeface="IBM Plex Sans"/>
              </a:rPr>
              <a:t>Modalità massima</a:t>
            </a:r>
            <a:endParaRPr b="0" i="0" sz="2050" u="none" cap="none" strike="noStrike"/>
          </a:p>
        </p:txBody>
      </p:sp>
      <p:sp>
        <p:nvSpPr>
          <p:cNvPr id="305" name="Google Shape;305;p23"/>
          <p:cNvSpPr/>
          <p:nvPr/>
        </p:nvSpPr>
        <p:spPr>
          <a:xfrm>
            <a:off x="785813" y="5190292"/>
            <a:ext cx="4038481" cy="341352"/>
          </a:xfrm>
          <a:prstGeom prst="rect">
            <a:avLst/>
          </a:prstGeom>
          <a:noFill/>
          <a:ln>
            <a:noFill/>
          </a:ln>
        </p:spPr>
        <p:txBody>
          <a:bodyPr anchorCtr="0" anchor="t" bIns="0" lIns="0" spcFirstLastPara="1" rIns="0" wrap="square" tIns="0">
            <a:noAutofit/>
          </a:bodyPr>
          <a:lstStyle/>
          <a:p>
            <a:pPr indent="0" lvl="0" marL="0" marR="0" rtl="0" algn="r">
              <a:lnSpc>
                <a:spcPct val="16060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Supporto multiprocessore con 8087</a:t>
            </a:r>
            <a:endParaRPr b="0" i="0" sz="1650" u="none" cap="none" strike="noStrike"/>
          </a:p>
        </p:txBody>
      </p:sp>
      <p:pic>
        <p:nvPicPr>
          <p:cNvPr descr="preencoded.png" id="306" name="Google Shape;306;p23"/>
          <p:cNvPicPr preferRelativeResize="0"/>
          <p:nvPr/>
        </p:nvPicPr>
        <p:blipFill rotWithShape="1">
          <a:blip r:embed="rId9">
            <a:alphaModFix/>
          </a:blip>
          <a:srcRect b="0" l="0" r="0" t="0"/>
          <a:stretch/>
        </p:blipFill>
        <p:spPr>
          <a:xfrm>
            <a:off x="5144214" y="1710571"/>
            <a:ext cx="4341971" cy="4341971"/>
          </a:xfrm>
          <a:prstGeom prst="rect">
            <a:avLst/>
          </a:prstGeom>
          <a:noFill/>
          <a:ln>
            <a:noFill/>
          </a:ln>
        </p:spPr>
      </p:pic>
      <p:pic>
        <p:nvPicPr>
          <p:cNvPr descr="preencoded.png" id="307" name="Google Shape;307;p23"/>
          <p:cNvPicPr preferRelativeResize="0"/>
          <p:nvPr/>
        </p:nvPicPr>
        <p:blipFill rotWithShape="1">
          <a:blip r:embed="rId10">
            <a:alphaModFix/>
          </a:blip>
          <a:srcRect b="0" l="0" r="0" t="0"/>
          <a:stretch/>
        </p:blipFill>
        <p:spPr>
          <a:xfrm>
            <a:off x="5912227" y="4555867"/>
            <a:ext cx="319088" cy="398859"/>
          </a:xfrm>
          <a:prstGeom prst="rect">
            <a:avLst/>
          </a:prstGeom>
          <a:noFill/>
          <a:ln>
            <a:noFill/>
          </a:ln>
        </p:spPr>
      </p:pic>
      <p:sp>
        <p:nvSpPr>
          <p:cNvPr id="308" name="Google Shape;308;p23"/>
          <p:cNvSpPr/>
          <p:nvPr/>
        </p:nvSpPr>
        <p:spPr>
          <a:xfrm>
            <a:off x="785813" y="6292453"/>
            <a:ext cx="13058775" cy="1365409"/>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L'architettura dei bus dell'Intel 8086 comprende un bus dati a 16 bit e un bus indirizzi a 20 bit. Per ottimizzare il numero di pin, l'8086 utilizza un bus multiplexato dove indirizzi e dati condividono gli stessi pin fisici in momenti diversi. Il processore può operare in due modalità: la modalità minima, progettata per sistemi con singolo processore, e la modalità massima, che supporta configurazioni multiprocessore, in particolare con il coprocessore matematico 8087.</a:t>
            </a:r>
            <a:endParaRPr b="0" i="0" sz="1650" u="none" cap="none" strike="noStrike"/>
          </a:p>
        </p:txBody>
      </p:sp>
      <p:pic>
        <p:nvPicPr>
          <p:cNvPr id="309" name="Google Shape;309;p23"/>
          <p:cNvPicPr preferRelativeResize="0"/>
          <p:nvPr/>
        </p:nvPicPr>
        <p:blipFill>
          <a:blip r:embed="rId11">
            <a:alphaModFix/>
          </a:blip>
          <a:stretch>
            <a:fillRect/>
          </a:stretch>
        </p:blipFill>
        <p:spPr>
          <a:xfrm>
            <a:off x="12472500" y="7563075"/>
            <a:ext cx="2157900" cy="666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4"/>
          <p:cNvSpPr/>
          <p:nvPr/>
        </p:nvSpPr>
        <p:spPr>
          <a:xfrm>
            <a:off x="793790" y="782122"/>
            <a:ext cx="6777752" cy="67341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F3F3F2"/>
              </a:buClr>
              <a:buSzPts val="4200"/>
              <a:buFont typeface="IBM Plex Sans"/>
              <a:buNone/>
            </a:pPr>
            <a:r>
              <a:rPr b="0" i="0" lang="en-US" sz="4200" u="none" cap="none" strike="noStrike">
                <a:solidFill>
                  <a:srgbClr val="F3F3F2"/>
                </a:solidFill>
                <a:latin typeface="IBM Plex Sans"/>
                <a:ea typeface="IBM Plex Sans"/>
                <a:cs typeface="IBM Plex Sans"/>
                <a:sym typeface="IBM Plex Sans"/>
              </a:rPr>
              <a:t>Interruzioni e Set Istruzioni</a:t>
            </a:r>
            <a:endParaRPr b="0" i="0" sz="4200" u="none" cap="none" strike="noStrike"/>
          </a:p>
        </p:txBody>
      </p:sp>
      <p:sp>
        <p:nvSpPr>
          <p:cNvPr id="316" name="Google Shape;316;p24"/>
          <p:cNvSpPr/>
          <p:nvPr/>
        </p:nvSpPr>
        <p:spPr>
          <a:xfrm>
            <a:off x="793790" y="1886426"/>
            <a:ext cx="2173724" cy="1241346"/>
          </a:xfrm>
          <a:prstGeom prst="roundRect">
            <a:avLst>
              <a:gd fmla="val 2604"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7" name="Google Shape;317;p24"/>
          <p:cNvPicPr preferRelativeResize="0"/>
          <p:nvPr/>
        </p:nvPicPr>
        <p:blipFill rotWithShape="1">
          <a:blip r:embed="rId3">
            <a:alphaModFix/>
          </a:blip>
          <a:srcRect b="0" l="0" r="0" t="0"/>
          <a:stretch/>
        </p:blipFill>
        <p:spPr>
          <a:xfrm>
            <a:off x="1729145" y="2317671"/>
            <a:ext cx="303014" cy="378738"/>
          </a:xfrm>
          <a:prstGeom prst="rect">
            <a:avLst/>
          </a:prstGeom>
          <a:noFill/>
          <a:ln>
            <a:noFill/>
          </a:ln>
        </p:spPr>
      </p:pic>
      <p:sp>
        <p:nvSpPr>
          <p:cNvPr id="318" name="Google Shape;318;p24"/>
          <p:cNvSpPr/>
          <p:nvPr/>
        </p:nvSpPr>
        <p:spPr>
          <a:xfrm>
            <a:off x="3182898" y="2101810"/>
            <a:ext cx="2772847"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D4D4D1"/>
              </a:buClr>
              <a:buSzPts val="2100"/>
              <a:buFont typeface="IBM Plex Sans"/>
              <a:buNone/>
            </a:pPr>
            <a:r>
              <a:rPr b="0" i="0" lang="en-US" sz="2100" u="none" cap="none" strike="noStrike">
                <a:solidFill>
                  <a:srgbClr val="D4D4D1"/>
                </a:solidFill>
                <a:latin typeface="IBM Plex Sans"/>
                <a:ea typeface="IBM Plex Sans"/>
                <a:cs typeface="IBM Plex Sans"/>
                <a:sym typeface="IBM Plex Sans"/>
              </a:rPr>
              <a:t>Fino a 256 interruzioni</a:t>
            </a:r>
            <a:endParaRPr b="0" i="0" sz="2100" u="none" cap="none" strike="noStrike"/>
          </a:p>
        </p:txBody>
      </p:sp>
      <p:sp>
        <p:nvSpPr>
          <p:cNvPr id="319" name="Google Shape;319;p24"/>
          <p:cNvSpPr/>
          <p:nvPr/>
        </p:nvSpPr>
        <p:spPr>
          <a:xfrm>
            <a:off x="3182898" y="2567583"/>
            <a:ext cx="4380428" cy="34480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Supporto per interruzioni hardware e software</a:t>
            </a:r>
            <a:endParaRPr b="0" i="0" sz="1650" u="none" cap="none" strike="noStrike"/>
          </a:p>
        </p:txBody>
      </p:sp>
      <p:sp>
        <p:nvSpPr>
          <p:cNvPr id="320" name="Google Shape;320;p24"/>
          <p:cNvSpPr/>
          <p:nvPr/>
        </p:nvSpPr>
        <p:spPr>
          <a:xfrm>
            <a:off x="3075146" y="3112532"/>
            <a:ext cx="10653832" cy="15240"/>
          </a:xfrm>
          <a:prstGeom prst="roundRect">
            <a:avLst>
              <a:gd fmla="val 212093"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p:nvPr/>
        </p:nvSpPr>
        <p:spPr>
          <a:xfrm>
            <a:off x="793790" y="3235404"/>
            <a:ext cx="4347567" cy="1241346"/>
          </a:xfrm>
          <a:prstGeom prst="roundRect">
            <a:avLst>
              <a:gd fmla="val 2604"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2" name="Google Shape;322;p24"/>
          <p:cNvPicPr preferRelativeResize="0"/>
          <p:nvPr/>
        </p:nvPicPr>
        <p:blipFill rotWithShape="1">
          <a:blip r:embed="rId4">
            <a:alphaModFix/>
          </a:blip>
          <a:srcRect b="0" l="0" r="0" t="0"/>
          <a:stretch/>
        </p:blipFill>
        <p:spPr>
          <a:xfrm>
            <a:off x="2816066" y="3666649"/>
            <a:ext cx="303014" cy="378738"/>
          </a:xfrm>
          <a:prstGeom prst="rect">
            <a:avLst/>
          </a:prstGeom>
          <a:noFill/>
          <a:ln>
            <a:noFill/>
          </a:ln>
        </p:spPr>
      </p:pic>
      <p:sp>
        <p:nvSpPr>
          <p:cNvPr id="323" name="Google Shape;323;p24"/>
          <p:cNvSpPr/>
          <p:nvPr/>
        </p:nvSpPr>
        <p:spPr>
          <a:xfrm>
            <a:off x="5356741" y="3450788"/>
            <a:ext cx="2693551"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D4D4D1"/>
              </a:buClr>
              <a:buSzPts val="2100"/>
              <a:buFont typeface="IBM Plex Sans"/>
              <a:buNone/>
            </a:pPr>
            <a:r>
              <a:rPr b="0" i="0" lang="en-US" sz="2100" u="none" cap="none" strike="noStrike">
                <a:solidFill>
                  <a:srgbClr val="D4D4D1"/>
                </a:solidFill>
                <a:latin typeface="IBM Plex Sans"/>
                <a:ea typeface="IBM Plex Sans"/>
                <a:cs typeface="IBM Plex Sans"/>
                <a:sym typeface="IBM Plex Sans"/>
              </a:rPr>
              <a:t>Supporto NMI</a:t>
            </a:r>
            <a:endParaRPr b="0" i="0" sz="2100" u="none" cap="none" strike="noStrike"/>
          </a:p>
        </p:txBody>
      </p:sp>
      <p:sp>
        <p:nvSpPr>
          <p:cNvPr id="324" name="Google Shape;324;p24"/>
          <p:cNvSpPr/>
          <p:nvPr/>
        </p:nvSpPr>
        <p:spPr>
          <a:xfrm>
            <a:off x="5356741" y="3916561"/>
            <a:ext cx="3817144" cy="34480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Non Maskable Interrupt per eventi critici</a:t>
            </a:r>
            <a:endParaRPr b="0" i="0" sz="1650" u="none" cap="none" strike="noStrike"/>
          </a:p>
        </p:txBody>
      </p:sp>
      <p:sp>
        <p:nvSpPr>
          <p:cNvPr id="325" name="Google Shape;325;p24"/>
          <p:cNvSpPr/>
          <p:nvPr/>
        </p:nvSpPr>
        <p:spPr>
          <a:xfrm>
            <a:off x="5248989" y="4461510"/>
            <a:ext cx="8479988" cy="15240"/>
          </a:xfrm>
          <a:prstGeom prst="roundRect">
            <a:avLst>
              <a:gd fmla="val 212093" name="adj"/>
            </a:avLst>
          </a:prstGeom>
          <a:solidFill>
            <a:srgbClr val="6164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
          <p:cNvSpPr/>
          <p:nvPr/>
        </p:nvSpPr>
        <p:spPr>
          <a:xfrm>
            <a:off x="793790" y="4584383"/>
            <a:ext cx="6521410" cy="1241346"/>
          </a:xfrm>
          <a:prstGeom prst="roundRect">
            <a:avLst>
              <a:gd fmla="val 2604" name="adj"/>
            </a:avLst>
          </a:prstGeom>
          <a:solidFill>
            <a:srgbClr val="484B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7" name="Google Shape;327;p24"/>
          <p:cNvPicPr preferRelativeResize="0"/>
          <p:nvPr/>
        </p:nvPicPr>
        <p:blipFill rotWithShape="1">
          <a:blip r:embed="rId5">
            <a:alphaModFix/>
          </a:blip>
          <a:srcRect b="0" l="0" r="0" t="0"/>
          <a:stretch/>
        </p:blipFill>
        <p:spPr>
          <a:xfrm>
            <a:off x="3902988" y="5015627"/>
            <a:ext cx="303014" cy="378738"/>
          </a:xfrm>
          <a:prstGeom prst="rect">
            <a:avLst/>
          </a:prstGeom>
          <a:noFill/>
          <a:ln>
            <a:noFill/>
          </a:ln>
        </p:spPr>
      </p:pic>
      <p:sp>
        <p:nvSpPr>
          <p:cNvPr id="328" name="Google Shape;328;p24"/>
          <p:cNvSpPr/>
          <p:nvPr/>
        </p:nvSpPr>
        <p:spPr>
          <a:xfrm>
            <a:off x="7530584" y="4799767"/>
            <a:ext cx="3417808"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D4D4D1"/>
              </a:buClr>
              <a:buSzPts val="2100"/>
              <a:buFont typeface="IBM Plex Sans"/>
              <a:buNone/>
            </a:pPr>
            <a:r>
              <a:rPr b="0" i="0" lang="en-US" sz="2100" u="none" cap="none" strike="noStrike">
                <a:solidFill>
                  <a:srgbClr val="D4D4D1"/>
                </a:solidFill>
                <a:latin typeface="IBM Plex Sans"/>
                <a:ea typeface="IBM Plex Sans"/>
                <a:cs typeface="IBM Plex Sans"/>
                <a:sym typeface="IBM Plex Sans"/>
              </a:rPr>
              <a:t>Ampio set di istruzioni CISC</a:t>
            </a:r>
            <a:endParaRPr b="0" i="0" sz="2100" u="none" cap="none" strike="noStrike"/>
          </a:p>
        </p:txBody>
      </p:sp>
      <p:sp>
        <p:nvSpPr>
          <p:cNvPr id="329" name="Google Shape;329;p24"/>
          <p:cNvSpPr/>
          <p:nvPr/>
        </p:nvSpPr>
        <p:spPr>
          <a:xfrm>
            <a:off x="7530584" y="5265539"/>
            <a:ext cx="4107775" cy="34480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Istruzioni aritmetiche, logiche e di controllo</a:t>
            </a:r>
            <a:endParaRPr b="0" i="0" sz="1650" u="none" cap="none" strike="noStrike"/>
          </a:p>
        </p:txBody>
      </p:sp>
      <p:sp>
        <p:nvSpPr>
          <p:cNvPr id="330" name="Google Shape;330;p24"/>
          <p:cNvSpPr/>
          <p:nvPr/>
        </p:nvSpPr>
        <p:spPr>
          <a:xfrm>
            <a:off x="793790" y="6068139"/>
            <a:ext cx="13042821" cy="137922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D4D4D1"/>
              </a:buClr>
              <a:buSzPts val="1650"/>
              <a:buFont typeface="Roboto"/>
              <a:buNone/>
            </a:pPr>
            <a:r>
              <a:rPr b="0" i="0" lang="en-US" sz="1650" u="none" cap="none" strike="noStrike">
                <a:solidFill>
                  <a:srgbClr val="D4D4D1"/>
                </a:solidFill>
                <a:latin typeface="Roboto"/>
                <a:ea typeface="Roboto"/>
                <a:cs typeface="Roboto"/>
                <a:sym typeface="Roboto"/>
              </a:rPr>
              <a:t>L'Intel 8086 supporta fino a 256 diverse interruzioni, sia hardware che software, permettendo una gestione flessibile degli eventi esterni e interni. Include anche il supporto per le NMI (Non Maskable Interrupt), interruzioni che non possono essere ignorate dal processore e sono utilizzate per gestire eventi critici come errori hardware. Come processore CISC (Complex Instruction Set Computer), l'8086 offre un ampio set di istruzioni che include operazioni aritmetiche, logiche, di trasferimento dati, di controllo del flusso e molte altre.</a:t>
            </a:r>
            <a:endParaRPr b="0" i="0" sz="1650" u="none" cap="none" strike="noStrike"/>
          </a:p>
        </p:txBody>
      </p:sp>
      <p:pic>
        <p:nvPicPr>
          <p:cNvPr id="331" name="Google Shape;331;p24"/>
          <p:cNvPicPr preferRelativeResize="0"/>
          <p:nvPr/>
        </p:nvPicPr>
        <p:blipFill>
          <a:blip r:embed="rId6">
            <a:alphaModFix/>
          </a:blip>
          <a:stretch>
            <a:fillRect/>
          </a:stretch>
        </p:blipFill>
        <p:spPr>
          <a:xfrm>
            <a:off x="12700275" y="7556175"/>
            <a:ext cx="1930125" cy="673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